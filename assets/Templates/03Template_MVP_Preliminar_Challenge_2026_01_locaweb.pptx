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374" r:id="rId5"/>
    <p:sldId id="256" r:id="rId6"/>
    <p:sldId id="257" r:id="rId7"/>
    <p:sldId id="266" r:id="rId8"/>
    <p:sldId id="258" r:id="rId9"/>
    <p:sldId id="278" r:id="rId10"/>
    <p:sldId id="275" r:id="rId11"/>
    <p:sldId id="281" r:id="rId12"/>
    <p:sldId id="282" r:id="rId13"/>
    <p:sldId id="270" r:id="rId14"/>
    <p:sldId id="277" r:id="rId15"/>
    <p:sldId id="279" r:id="rId16"/>
    <p:sldId id="280" r:id="rId17"/>
    <p:sldId id="265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E16AD56-0F6A-F0B6-1DD7-9AE72BF430E5}" name="Salvio" initials="S" userId="S::pf0110@fiap.com.br::99a726ad-7426-4b5d-b523-db7cc5e85844" providerId="AD"/>
  <p188:author id="{7A10F7CC-64E9-635B-B4F3-ADC76AFE3D35}" name="Patrícia Maura Angelini" initials="PMA" userId="d4538d7fe211057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2FBE38-FB07-80AE-5BC9-35C82AFFADAD}" v="5" dt="2025-02-03T14:00:42.8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7" autoAdjust="0"/>
  </p:normalViewPr>
  <p:slideViewPr>
    <p:cSldViewPr snapToGrid="0">
      <p:cViewPr varScale="1">
        <p:scale>
          <a:sx n="89" d="100"/>
          <a:sy n="89" d="100"/>
        </p:scale>
        <p:origin x="108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a de Cássia Rodrigues" userId="S::pf0102@fiap.com.br::b32710f7-8521-4fe1-8cdd-1070fada222d" providerId="AD" clId="Web-{F53C30C2-FCE6-6221-D604-54CB72CF8F75}"/>
    <pc:docChg chg="modSld">
      <pc:chgData name="Rita de Cássia Rodrigues" userId="S::pf0102@fiap.com.br::b32710f7-8521-4fe1-8cdd-1070fada222d" providerId="AD" clId="Web-{F53C30C2-FCE6-6221-D604-54CB72CF8F75}" dt="2023-12-19T12:47:59.961" v="3" actId="20577"/>
      <pc:docMkLst>
        <pc:docMk/>
      </pc:docMkLst>
      <pc:sldChg chg="modSp modCm">
        <pc:chgData name="Rita de Cássia Rodrigues" userId="S::pf0102@fiap.com.br::b32710f7-8521-4fe1-8cdd-1070fada222d" providerId="AD" clId="Web-{F53C30C2-FCE6-6221-D604-54CB72CF8F75}" dt="2023-12-19T12:47:59.961" v="3" actId="20577"/>
        <pc:sldMkLst>
          <pc:docMk/>
          <pc:sldMk cId="1812676035" sldId="279"/>
        </pc:sldMkLst>
        <pc:spChg chg="mod">
          <ac:chgData name="Rita de Cássia Rodrigues" userId="S::pf0102@fiap.com.br::b32710f7-8521-4fe1-8cdd-1070fada222d" providerId="AD" clId="Web-{F53C30C2-FCE6-6221-D604-54CB72CF8F75}" dt="2023-12-19T12:47:59.961" v="3" actId="20577"/>
          <ac:spMkLst>
            <pc:docMk/>
            <pc:sldMk cId="1812676035" sldId="279"/>
            <ac:spMk id="4" creationId="{833D4CA9-FED5-2DE5-9520-2F6C3042187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Rita de Cássia Rodrigues" userId="S::pf0102@fiap.com.br::b32710f7-8521-4fe1-8cdd-1070fada222d" providerId="AD" clId="Web-{F53C30C2-FCE6-6221-D604-54CB72CF8F75}" dt="2023-12-19T12:47:59.961" v="3" actId="20577"/>
              <pc2:cmMkLst xmlns:pc2="http://schemas.microsoft.com/office/powerpoint/2019/9/main/command">
                <pc:docMk/>
                <pc:sldMk cId="1812676035" sldId="279"/>
                <pc2:cmMk id="{E58D9D31-ACF3-4E08-B9D2-C5225E87BC69}"/>
              </pc2:cmMkLst>
            </pc226:cmChg>
          </p:ext>
        </pc:extLst>
      </pc:sldChg>
    </pc:docChg>
  </pc:docChgLst>
  <pc:docChgLst>
    <pc:chgData name="Rita de Cássia Rodrigues" userId="S::pf0102@fiap.com.br::b32710f7-8521-4fe1-8cdd-1070fada222d" providerId="AD" clId="Web-{FA2FBE38-FB07-80AE-5BC9-35C82AFFADAD}"/>
    <pc:docChg chg="sldOrd">
      <pc:chgData name="Rita de Cássia Rodrigues" userId="S::pf0102@fiap.com.br::b32710f7-8521-4fe1-8cdd-1070fada222d" providerId="AD" clId="Web-{FA2FBE38-FB07-80AE-5BC9-35C82AFFADAD}" dt="2025-02-03T14:00:42.828" v="4"/>
      <pc:docMkLst>
        <pc:docMk/>
      </pc:docMkLst>
      <pc:sldChg chg="ord">
        <pc:chgData name="Rita de Cássia Rodrigues" userId="S::pf0102@fiap.com.br::b32710f7-8521-4fe1-8cdd-1070fada222d" providerId="AD" clId="Web-{FA2FBE38-FB07-80AE-5BC9-35C82AFFADAD}" dt="2025-02-03T14:00:42.828" v="4"/>
        <pc:sldMkLst>
          <pc:docMk/>
          <pc:sldMk cId="3778338509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C9C2E6-DB87-4413-9CA1-67892A40D008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AAD4E-936D-4191-9A97-34BCB61141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1751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737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49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359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021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0966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0811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219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260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7614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270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7046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17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" descr="Padrão do plano de fund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33734" y="2660145"/>
            <a:ext cx="6724532" cy="768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0161" y="4081331"/>
            <a:ext cx="3471679" cy="484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"/>
          <p:cNvPicPr preferRelativeResize="0"/>
          <p:nvPr/>
        </p:nvPicPr>
        <p:blipFill rotWithShape="1">
          <a:blip r:embed="rId6">
            <a:alphaModFix/>
          </a:blip>
          <a:srcRect l="20963" r="20963"/>
          <a:stretch/>
        </p:blipFill>
        <p:spPr>
          <a:xfrm>
            <a:off x="5585953" y="2009024"/>
            <a:ext cx="1020095" cy="305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016577" y="656472"/>
            <a:ext cx="7673419" cy="1124982"/>
          </a:xfrm>
        </p:spPr>
        <p:txBody>
          <a:bodyPr/>
          <a:lstStyle/>
          <a:p>
            <a:r>
              <a:rPr lang="pt-BR" b="1" dirty="0"/>
              <a:t>NOME DA SOLUÇÃO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401558" y="4360932"/>
            <a:ext cx="6410228" cy="1655762"/>
          </a:xfrm>
        </p:spPr>
        <p:txBody>
          <a:bodyPr>
            <a:normAutofit/>
          </a:bodyPr>
          <a:lstStyle/>
          <a:p>
            <a:pPr algn="l"/>
            <a:r>
              <a:rPr lang="pt-BR" dirty="0"/>
              <a:t>Fique a vontade em incrementar sua entrega, colando a foto de cada componente da equipe e mais alguma informação que julgar pertinente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401558" y="5555029"/>
            <a:ext cx="62311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Observação: A formação dos slides (cores, fontes de texto, imagens, ficam a critério de cada Equipe) faz parte dos critérios de avaliação do projeto. 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454F4EAC-5415-20E2-8257-C056E565DC72}"/>
              </a:ext>
            </a:extLst>
          </p:cNvPr>
          <p:cNvSpPr txBox="1">
            <a:spLocks/>
          </p:cNvSpPr>
          <p:nvPr/>
        </p:nvSpPr>
        <p:spPr>
          <a:xfrm>
            <a:off x="142319" y="176081"/>
            <a:ext cx="2704576" cy="160537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" dirty="0"/>
          </a:p>
          <a:p>
            <a:r>
              <a:rPr lang="pt-BR" dirty="0"/>
              <a:t>INSIRA AQUI O LOGOTIPO DO PROJETO</a:t>
            </a:r>
          </a:p>
          <a:p>
            <a:endParaRPr lang="pt-BR" sz="800" dirty="0"/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EB450CD4-0EC5-E51E-D841-2B5564170246}"/>
              </a:ext>
            </a:extLst>
          </p:cNvPr>
          <p:cNvSpPr txBox="1">
            <a:spLocks/>
          </p:cNvSpPr>
          <p:nvPr/>
        </p:nvSpPr>
        <p:spPr>
          <a:xfrm>
            <a:off x="127785" y="3429000"/>
            <a:ext cx="663778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dirty="0"/>
              <a:t>Nome da Equipe: </a:t>
            </a:r>
            <a:r>
              <a:rPr lang="pt-BR" sz="1800" dirty="0">
                <a:solidFill>
                  <a:srgbClr val="0070C0"/>
                </a:solidFill>
              </a:rPr>
              <a:t>&lt;insira aqui o nome da equipe&gt;</a:t>
            </a:r>
          </a:p>
        </p:txBody>
      </p:sp>
      <p:graphicFrame>
        <p:nvGraphicFramePr>
          <p:cNvPr id="9" name="Tabela 9">
            <a:extLst>
              <a:ext uri="{FF2B5EF4-FFF2-40B4-BE49-F238E27FC236}">
                <a16:creationId xmlns:a16="http://schemas.microsoft.com/office/drawing/2014/main" id="{5D76F1AF-42BC-48EA-6178-7CD9AE3B1D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651732"/>
              </p:ext>
            </p:extLst>
          </p:nvPr>
        </p:nvGraphicFramePr>
        <p:xfrm>
          <a:off x="226374" y="3984079"/>
          <a:ext cx="474587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1913">
                  <a:extLst>
                    <a:ext uri="{9D8B030D-6E8A-4147-A177-3AD203B41FA5}">
                      <a16:colId xmlns:a16="http://schemas.microsoft.com/office/drawing/2014/main" val="2795118199"/>
                    </a:ext>
                  </a:extLst>
                </a:gridCol>
                <a:gridCol w="1743959">
                  <a:extLst>
                    <a:ext uri="{9D8B030D-6E8A-4147-A177-3AD203B41FA5}">
                      <a16:colId xmlns:a16="http://schemas.microsoft.com/office/drawing/2014/main" val="9620406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Nome do aluno em ordem alfabética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RM do Aluno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547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0070C0"/>
                          </a:solidFill>
                        </a:rPr>
                        <a:t>&lt;nome_aluno_1&gt;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0070C0"/>
                          </a:solidFill>
                        </a:rPr>
                        <a:t>&lt;rm_aluno1&gt;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110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0070C0"/>
                          </a:solidFill>
                        </a:rPr>
                        <a:t>&lt;nome_aluno_2&gt;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0070C0"/>
                          </a:solidFill>
                        </a:rPr>
                        <a:t>&lt;rm_aluno2&gt;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497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0070C0"/>
                          </a:solidFill>
                        </a:rPr>
                        <a:t>&lt;nome_aluno_3&gt;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0070C0"/>
                          </a:solidFill>
                        </a:rPr>
                        <a:t>&lt;rm_aluno3&gt;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91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0070C0"/>
                          </a:solidFill>
                        </a:rPr>
                        <a:t>&lt;nome_aluno_4&gt;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0070C0"/>
                          </a:solidFill>
                        </a:rPr>
                        <a:t>&lt;rm_aluno4&gt;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5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0070C0"/>
                          </a:solidFill>
                        </a:rPr>
                        <a:t>&lt;nome_aluno_5&gt;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0070C0"/>
                          </a:solidFill>
                        </a:rPr>
                        <a:t>&lt;rm_aluno5&gt;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286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5515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dirty="0"/>
              <a:t>CONTEXTUALIZAÇÃO DO PROBLEMA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2876" y="1473911"/>
            <a:ext cx="11368398" cy="487756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>
                <a:solidFill>
                  <a:srgbClr val="0070C0"/>
                </a:solidFill>
              </a:rPr>
              <a:t>#DICAS</a:t>
            </a:r>
          </a:p>
          <a:p>
            <a:pPr marL="0" indent="0">
              <a:buNone/>
            </a:pPr>
            <a:endParaRPr lang="pt-BR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Defina claramente o problema. Qual é a questão a ser resolvida.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1100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Considere o contexto em que o problema está ocorrendo. Isso pode incluir fatores históricos, sociais, econômicos, culturais e políticos que podem estar influenciando a situação.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1000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Tente identificar as causas raiz do problema.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1000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Entenda os fatores que podem contribuir para o problema (podem ser usadas ferramentas de análise como: análise SWOT, matriz de impacto e viabilidade, diagrama de Ishikawa – espinha de peixe).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1000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Aqui você pode inserir notícias, gráficos, informações da empresa parceira e tudo mais que a equipe considerar pertinente.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013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786" y="15319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PROBLEMA A SER RESOLVIDO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88696" y="1690688"/>
            <a:ext cx="11614608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rgbClr val="0070C0"/>
                </a:solidFill>
              </a:rPr>
              <a:t>#DICAS</a:t>
            </a:r>
          </a:p>
          <a:p>
            <a:pPr marL="0" indent="0">
              <a:buNone/>
            </a:pPr>
            <a:endParaRPr lang="pt-BR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Determine claramente o que você espera alcançar ao resolver esse problema. Pergunte a si mesmo: "O que espero alcançar?" Isso ajudará a estabelecer metas claras.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Aqui você pode usar a técnica de </a:t>
            </a:r>
            <a:r>
              <a:rPr lang="pt-BR" dirty="0" err="1"/>
              <a:t>Storytelling</a:t>
            </a:r>
            <a:r>
              <a:rPr lang="pt-BR" dirty="0"/>
              <a:t>, para contar através da ideia de histórias a problemática apresentada.</a:t>
            </a:r>
          </a:p>
        </p:txBody>
      </p:sp>
    </p:spTree>
    <p:extLst>
      <p:ext uri="{BB962C8B-B14F-4D97-AF65-F5344CB8AC3E}">
        <p14:creationId xmlns:p14="http://schemas.microsoft.com/office/powerpoint/2010/main" val="1875521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06209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PROPOSTA DE SOLUÇÃO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1402" y="1450720"/>
            <a:ext cx="11645214" cy="450202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dirty="0">
                <a:solidFill>
                  <a:srgbClr val="0070C0"/>
                </a:solidFill>
              </a:rPr>
              <a:t>#DICAS</a:t>
            </a:r>
          </a:p>
          <a:p>
            <a:pPr marL="0" indent="0">
              <a:buNone/>
            </a:pPr>
            <a:endParaRPr lang="pt-BR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Explicar como a solução proposta resolve o problema e atinge os objetivos definidos de forma clara e convincente.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Aqui você pode incluir: relatórios, gráficos, diagramas, planos,  protótipos, alguma documentação e tudo mais que a equipe considerar necessário para ilustrar a ideia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Durante a ideação você pode utilizar a abordagem Design </a:t>
            </a:r>
            <a:r>
              <a:rPr lang="pt-BR" dirty="0" err="1"/>
              <a:t>Thinking</a:t>
            </a:r>
            <a:r>
              <a:rPr lang="pt-BR" dirty="0"/>
              <a:t>, para ajudar na ideação da sua proposta de solução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3242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3464" y="120029"/>
            <a:ext cx="10515600" cy="1325563"/>
          </a:xfrm>
        </p:spPr>
        <p:txBody>
          <a:bodyPr/>
          <a:lstStyle/>
          <a:p>
            <a:pPr algn="ctr"/>
            <a:r>
              <a:rPr lang="pt-BR" b="1" dirty="0"/>
              <a:t>DOCUMENTAÇÃO DO GERENCIAMENTO DE PROJETOS ATUALIZADA</a:t>
            </a:r>
          </a:p>
        </p:txBody>
      </p:sp>
      <p:sp>
        <p:nvSpPr>
          <p:cNvPr id="6" name="Espaço Reservado para Conteúdo 3">
            <a:extLst>
              <a:ext uri="{FF2B5EF4-FFF2-40B4-BE49-F238E27FC236}">
                <a16:creationId xmlns:a16="http://schemas.microsoft.com/office/drawing/2014/main" id="{07A1A1DD-C578-453E-0A96-0C279EEC6389}"/>
              </a:ext>
            </a:extLst>
          </p:cNvPr>
          <p:cNvSpPr txBox="1">
            <a:spLocks/>
          </p:cNvSpPr>
          <p:nvPr/>
        </p:nvSpPr>
        <p:spPr>
          <a:xfrm>
            <a:off x="283464" y="1445592"/>
            <a:ext cx="11782845" cy="522883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pt-BR" sz="3800" dirty="0">
                <a:solidFill>
                  <a:srgbClr val="0070C0"/>
                </a:solidFill>
              </a:rPr>
              <a:t>#Dicas</a:t>
            </a:r>
          </a:p>
          <a:p>
            <a:pPr marL="0" indent="0">
              <a:lnSpc>
                <a:spcPct val="110000"/>
              </a:lnSpc>
              <a:buNone/>
            </a:pPr>
            <a:br>
              <a:rPr lang="pt-BR" sz="2400" dirty="0"/>
            </a:br>
            <a:r>
              <a:rPr lang="pt-BR" sz="2400" dirty="0"/>
              <a:t>Entregar a documentação atualizada para que a equipe e os stakeholders revisem informações precisas e relevantes sobre o que foi planejado, executado e entregue durante as sprints anteriores (sprints 1 e 2).</a:t>
            </a:r>
          </a:p>
          <a:p>
            <a:pPr marL="0" indent="0">
              <a:lnSpc>
                <a:spcPct val="110000"/>
              </a:lnSpc>
              <a:buNone/>
            </a:pPr>
            <a:endParaRPr lang="pt-BR" sz="1300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pt-BR" sz="2400" b="1" dirty="0"/>
              <a:t>Atualize os itens entregues anteriormente (sprints 1 e 2) e anexe esses itens atualizados, na entrega da SPRINT 3.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pt-BR" sz="1100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pt-BR" sz="2400" dirty="0"/>
              <a:t>Atualize o planejamento das atividades desenvolvidas até aqui e </a:t>
            </a:r>
            <a:r>
              <a:rPr lang="pt-BR" sz="2400" b="1" dirty="0"/>
              <a:t>envie uma imagem ou um link onde seja possível visualizar esse planejamento</a:t>
            </a:r>
            <a:r>
              <a:rPr lang="pt-BR" sz="2400" dirty="0"/>
              <a:t>. Você pode utilizar o </a:t>
            </a:r>
            <a:r>
              <a:rPr lang="pt-BR" sz="2400" dirty="0" err="1"/>
              <a:t>Kanban</a:t>
            </a:r>
            <a:r>
              <a:rPr lang="pt-BR" sz="2400" dirty="0"/>
              <a:t>, para apresentar o planejamento, evolução e acompanhamento atualizado do seu projeto.</a:t>
            </a:r>
            <a:br>
              <a:rPr lang="pt-BR" sz="2400" dirty="0"/>
            </a:br>
            <a:br>
              <a:rPr lang="pt-BR" sz="2400" dirty="0"/>
            </a:br>
            <a:r>
              <a:rPr lang="pt-BR" sz="2400" dirty="0"/>
              <a:t>O </a:t>
            </a:r>
            <a:r>
              <a:rPr lang="pt-BR" sz="2400" dirty="0" err="1"/>
              <a:t>Kanban</a:t>
            </a:r>
            <a:r>
              <a:rPr lang="pt-BR" sz="2400" dirty="0"/>
              <a:t> é uma metodologia visual de gestão de projetos e tarefas, que permite a visualização do fluxo de trabalho.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pt-BR" sz="1100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pt-BR" sz="2400" dirty="0"/>
              <a:t>Sugestões de ferramentas que podem ser utilizadas para trabalhar a gestão e acompanhamento dos projetos: </a:t>
            </a:r>
            <a:r>
              <a:rPr lang="pt-BR" sz="2400" dirty="0" err="1"/>
              <a:t>Trello</a:t>
            </a:r>
            <a:r>
              <a:rPr lang="pt-BR" sz="2400" dirty="0"/>
              <a:t>, </a:t>
            </a:r>
            <a:r>
              <a:rPr lang="pt-BR" sz="2400" dirty="0" err="1"/>
              <a:t>Jira</a:t>
            </a:r>
            <a:r>
              <a:rPr lang="pt-BR" sz="2400" dirty="0"/>
              <a:t>, </a:t>
            </a:r>
            <a:r>
              <a:rPr lang="pt-BR" sz="2400" dirty="0" err="1"/>
              <a:t>KanbanFlow</a:t>
            </a:r>
            <a:r>
              <a:rPr lang="pt-BR" sz="2400" dirty="0"/>
              <a:t>, Azure Boards e outras a critério da sua equipe.</a:t>
            </a:r>
          </a:p>
        </p:txBody>
      </p:sp>
    </p:spTree>
    <p:extLst>
      <p:ext uri="{BB962C8B-B14F-4D97-AF65-F5344CB8AC3E}">
        <p14:creationId xmlns:p14="http://schemas.microsoft.com/office/powerpoint/2010/main" val="1428730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9542" y="551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PLANEJAMENTO  E GESTÃO DO PROJETO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A758E37A-8815-F16B-AFBD-DE6CAA60A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5680" y="6278753"/>
            <a:ext cx="11757767" cy="5792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400" b="1" dirty="0"/>
              <a:t>Exemplo Ilustrativo – Planejamento e Acompanhamento do Projeto – Fonte: http://www.freepik.com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6B8DA7F-F684-4394-BD42-49C85E053E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135" y="1380704"/>
            <a:ext cx="6875730" cy="458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338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72212" y="12002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ARQUITETURA DA SOLUÇÃO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5967" y="1445591"/>
            <a:ext cx="1184006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rgbClr val="0070C0"/>
                </a:solidFill>
              </a:rPr>
              <a:t>#DICAS</a:t>
            </a:r>
          </a:p>
          <a:p>
            <a:pPr marL="0" indent="0">
              <a:buNone/>
            </a:pPr>
            <a:endParaRPr lang="pt-BR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Defina a arquitetura preliminar da sua solução e explique/justifique a escolha de cada elemento.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800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Indique principalmente, todas as fontes de dados necessárias para o desenvolvimento da sua solução.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800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Algumas ferramentas que podem ser utilizadas para criar arquitetura de solução: Microsoft Visio, </a:t>
            </a:r>
            <a:r>
              <a:rPr lang="pt-BR" dirty="0" err="1"/>
              <a:t>Lucid</a:t>
            </a:r>
            <a:r>
              <a:rPr lang="pt-BR" dirty="0"/>
              <a:t> Chart, outras a critério da equipe.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809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1735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DESENHO DA ARQUITETURA DA SOLUÇÃO</a:t>
            </a:r>
          </a:p>
        </p:txBody>
      </p:sp>
      <p:pic>
        <p:nvPicPr>
          <p:cNvPr id="6" name="Imagem 5" descr="Diagrama&#10;&#10;Descrição gerada automaticamente">
            <a:extLst>
              <a:ext uri="{FF2B5EF4-FFF2-40B4-BE49-F238E27FC236}">
                <a16:creationId xmlns:a16="http://schemas.microsoft.com/office/drawing/2014/main" id="{65A8FA91-7FCD-CD75-1181-99A0A245F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911" y="1442916"/>
            <a:ext cx="7902759" cy="4845678"/>
          </a:xfrm>
          <a:prstGeom prst="rect">
            <a:avLst/>
          </a:prstGeom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84AD3C06-764F-09AB-E27D-CF79E62FD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2483" y="6161400"/>
            <a:ext cx="6307033" cy="5792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400" b="1" dirty="0"/>
              <a:t>Exemplo Ilustrativo: Típica Arquitetura Big Data – Fonte: Alunos de Data Science da FIAP – grupo </a:t>
            </a:r>
            <a:r>
              <a:rPr lang="pt-BR" sz="1400" b="1" dirty="0" err="1"/>
              <a:t>Semantix</a:t>
            </a:r>
            <a:r>
              <a:rPr lang="pt-BR" sz="1400" b="1" dirty="0"/>
              <a:t> (2021)</a:t>
            </a:r>
          </a:p>
        </p:txBody>
      </p:sp>
    </p:spTree>
    <p:extLst>
      <p:ext uri="{BB962C8B-B14F-4D97-AF65-F5344CB8AC3E}">
        <p14:creationId xmlns:p14="http://schemas.microsoft.com/office/powerpoint/2010/main" val="3190806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-125069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DESCRIÇÃO DA ARQUITETURA DA SOLUÇÃO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33D4CA9-FED5-2DE5-9520-2F6C30421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95" y="1055802"/>
            <a:ext cx="11884089" cy="564665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dirty="0">
                <a:solidFill>
                  <a:srgbClr val="0070C0"/>
                </a:solidFill>
              </a:rPr>
              <a:t>#Dicas: Arquitetura de Dados Simples</a:t>
            </a:r>
          </a:p>
          <a:p>
            <a:pPr marL="0" indent="0">
              <a:buNone/>
            </a:pPr>
            <a:endParaRPr lang="pt-BR" sz="1000" dirty="0"/>
          </a:p>
          <a:p>
            <a:pPr algn="l">
              <a:buFont typeface="+mj-lt"/>
              <a:buAutoNum type="arabicPeriod"/>
            </a:pPr>
            <a:r>
              <a:rPr lang="pt-BR" b="1" dirty="0"/>
              <a:t>Fontes de Dados: </a:t>
            </a:r>
            <a:r>
              <a:rPr lang="pt-BR" dirty="0"/>
              <a:t>São as origens de onde vêm os dados. Podem ser bancos de dados, APIs, feeds de mídia social, arquivos CSV, entre outros.</a:t>
            </a:r>
          </a:p>
          <a:p>
            <a:pPr algn="l">
              <a:buFont typeface="+mj-lt"/>
              <a:buAutoNum type="arabicPeriod"/>
            </a:pPr>
            <a:endParaRPr lang="pt-BR" sz="1300" dirty="0"/>
          </a:p>
          <a:p>
            <a:pPr algn="l">
              <a:buFont typeface="+mj-lt"/>
              <a:buAutoNum type="arabicPeriod"/>
            </a:pPr>
            <a:r>
              <a:rPr lang="pt-BR" b="1" dirty="0"/>
              <a:t>Pipeline de Ingestão: </a:t>
            </a:r>
            <a:r>
              <a:rPr lang="pt-BR" dirty="0"/>
              <a:t>Este é o processo de coleta e transformação dos dados brutos das fontes. Geralmente, soluções como Apache Kafka ou Apache </a:t>
            </a:r>
            <a:r>
              <a:rPr lang="pt-BR" dirty="0" err="1"/>
              <a:t>NiFi</a:t>
            </a:r>
            <a:r>
              <a:rPr lang="pt-BR" dirty="0"/>
              <a:t> são usadas para mover esses dados em tempo real ou em lotes.</a:t>
            </a:r>
          </a:p>
          <a:p>
            <a:pPr algn="l">
              <a:buFont typeface="+mj-lt"/>
              <a:buAutoNum type="arabicPeriod"/>
            </a:pPr>
            <a:endParaRPr lang="pt-BR" sz="1300" b="1" dirty="0"/>
          </a:p>
          <a:p>
            <a:pPr algn="l">
              <a:buFont typeface="+mj-lt"/>
              <a:buAutoNum type="arabicPeriod"/>
            </a:pPr>
            <a:r>
              <a:rPr lang="pt-BR" b="1" dirty="0"/>
              <a:t>Armazenamento de Dados: </a:t>
            </a:r>
            <a:r>
              <a:rPr lang="pt-BR" dirty="0"/>
              <a:t>Uma vez ingeridos, os dados são armazenados em um sistema de armazenamento. Isto pode ser um grande banco de dados relacional, um banco de dados </a:t>
            </a:r>
            <a:r>
              <a:rPr lang="pt-BR" dirty="0" err="1"/>
              <a:t>NoSQL</a:t>
            </a:r>
            <a:r>
              <a:rPr lang="pt-BR" dirty="0"/>
              <a:t>, ou um data </a:t>
            </a:r>
            <a:r>
              <a:rPr lang="pt-BR" dirty="0" err="1"/>
              <a:t>lake</a:t>
            </a:r>
            <a:r>
              <a:rPr lang="pt-BR" dirty="0"/>
              <a:t> como o </a:t>
            </a:r>
            <a:r>
              <a:rPr lang="pt-BR" dirty="0" err="1"/>
              <a:t>Amazon</a:t>
            </a:r>
            <a:r>
              <a:rPr lang="pt-BR" dirty="0"/>
              <a:t> S3 ou </a:t>
            </a:r>
            <a:r>
              <a:rPr lang="pt-BR" dirty="0" err="1"/>
              <a:t>Hadoop</a:t>
            </a:r>
            <a:r>
              <a:rPr lang="pt-BR" dirty="0"/>
              <a:t> HDFS.</a:t>
            </a:r>
          </a:p>
          <a:p>
            <a:pPr algn="l">
              <a:buFont typeface="+mj-lt"/>
              <a:buAutoNum type="arabicPeriod"/>
            </a:pPr>
            <a:endParaRPr lang="pt-BR" sz="1300" b="1" dirty="0"/>
          </a:p>
          <a:p>
            <a:pPr algn="l">
              <a:buFont typeface="+mj-lt"/>
              <a:buAutoNum type="arabicPeriod"/>
            </a:pPr>
            <a:r>
              <a:rPr lang="pt-BR" b="1" dirty="0"/>
              <a:t>Processamento de Dados: </a:t>
            </a:r>
            <a:r>
              <a:rPr lang="pt-BR" dirty="0"/>
              <a:t>Aqui, os dados são processados, limpos, transformados e analisados. Soluções como Apache Spark ou Apache </a:t>
            </a:r>
            <a:r>
              <a:rPr lang="pt-BR" dirty="0" err="1"/>
              <a:t>Hadoop</a:t>
            </a:r>
            <a:r>
              <a:rPr lang="pt-BR" dirty="0"/>
              <a:t> podem ser usadas para processamento em larga escala. Os resultados são frequentemente armazenados novamente para consulta e análise rápidas.</a:t>
            </a:r>
          </a:p>
          <a:p>
            <a:pPr algn="l">
              <a:buFont typeface="+mj-lt"/>
              <a:buAutoNum type="arabicPeriod"/>
            </a:pPr>
            <a:endParaRPr lang="pt-BR" sz="1300" b="1" dirty="0"/>
          </a:p>
          <a:p>
            <a:pPr algn="l">
              <a:buFont typeface="+mj-lt"/>
              <a:buAutoNum type="arabicPeriod"/>
            </a:pPr>
            <a:r>
              <a:rPr lang="pt-BR" b="1" dirty="0"/>
              <a:t>Visualização e Análise: </a:t>
            </a:r>
            <a:r>
              <a:rPr lang="pt-BR" dirty="0"/>
              <a:t>Finalmente, ferramentas de visualização como Tableau, Power BI, ou soluções de código aberto como </a:t>
            </a:r>
            <a:r>
              <a:rPr lang="pt-BR" dirty="0" err="1"/>
              <a:t>Grafana</a:t>
            </a:r>
            <a:r>
              <a:rPr lang="pt-BR" dirty="0"/>
              <a:t> e </a:t>
            </a:r>
            <a:r>
              <a:rPr lang="pt-BR" dirty="0" err="1"/>
              <a:t>Kibana</a:t>
            </a:r>
            <a:r>
              <a:rPr lang="pt-BR" dirty="0"/>
              <a:t> são usadas para visualizar os dados processados, gerar relatórios e insights.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3071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0482" y="-1491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DESCRIÇÃO DA ARQUITETURA DA SOLUÇÃO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33D4CA9-FED5-2DE5-9520-2F6C30421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997291"/>
            <a:ext cx="11625072" cy="50238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rgbClr val="0070C0"/>
                </a:solidFill>
              </a:rPr>
              <a:t>#Dicas: </a:t>
            </a:r>
            <a:r>
              <a:rPr lang="pt-BR" dirty="0"/>
              <a:t>Exemplo de descrição da Arquitetura de Solução Proposta</a:t>
            </a:r>
          </a:p>
          <a:p>
            <a:endParaRPr lang="pt-BR" dirty="0"/>
          </a:p>
        </p:txBody>
      </p:sp>
      <p:pic>
        <p:nvPicPr>
          <p:cNvPr id="1026" name="Picture 2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265F09D0-77CF-DB45-3924-C994163FA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889" y="1802121"/>
            <a:ext cx="4735892" cy="4450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B99EB59-8428-6FB2-DBB5-CA36A2506635}"/>
              </a:ext>
            </a:extLst>
          </p:cNvPr>
          <p:cNvSpPr txBox="1"/>
          <p:nvPr/>
        </p:nvSpPr>
        <p:spPr>
          <a:xfrm>
            <a:off x="3030889" y="6211669"/>
            <a:ext cx="4651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pt-BR" sz="1200" dirty="0"/>
              <a:t>Exemplo Ilustrativo: Descrição de elementos que fazem parte de uma Arquitetura de Solução</a:t>
            </a:r>
          </a:p>
          <a:p>
            <a:pPr marL="0" indent="0" algn="ctr">
              <a:buNone/>
            </a:pPr>
            <a:r>
              <a:rPr lang="pt-BR" sz="1200" dirty="0"/>
              <a:t>Fonte: professor Salvio Padlipskas</a:t>
            </a:r>
          </a:p>
        </p:txBody>
      </p:sp>
    </p:spTree>
    <p:extLst>
      <p:ext uri="{BB962C8B-B14F-4D97-AF65-F5344CB8AC3E}">
        <p14:creationId xmlns:p14="http://schemas.microsoft.com/office/powerpoint/2010/main" val="2364384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38882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VERSÃO PRELIMINAR DO MVP, BASEADO NA ARQUITETURA E PROTÓTIPOS 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33D4CA9-FED5-2DE5-9520-2F6C30421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54" y="1464444"/>
            <a:ext cx="11824291" cy="517232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t-BR" sz="2200" dirty="0">
                <a:solidFill>
                  <a:srgbClr val="0070C0"/>
                </a:solidFill>
              </a:rPr>
              <a:t>#Dicas</a:t>
            </a:r>
          </a:p>
          <a:p>
            <a:pPr marL="0" indent="0">
              <a:buNone/>
            </a:pPr>
            <a:endParaRPr lang="pt-BR" sz="800" dirty="0"/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rgbClr val="0070C0"/>
                </a:solidFill>
              </a:rPr>
              <a:t>MVP (PRODUTO MINÍMO VIÁVEL): </a:t>
            </a:r>
            <a:r>
              <a:rPr lang="pt-BR" sz="2200" dirty="0"/>
              <a:t>No desenvolvimento de produtos, especialmente no contexto de startups e desenvolvimento ágil de software, MVP refere-se à versão mais básica de um produto que pode ser lançada. O objetivo do MVP é testar rapidamente hipóteses com o menor esforço possível, coletando feedback dos usuários para fazer melhorias e ajustes antes de desenvolver e lançar versões mais completas do produto.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pt-BR" sz="800" dirty="0"/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rgbClr val="0070C0"/>
                </a:solidFill>
              </a:rPr>
              <a:t>Aqui, será necessário apresentar a </a:t>
            </a:r>
            <a:r>
              <a:rPr lang="pt-BR" sz="2200" b="1" dirty="0">
                <a:solidFill>
                  <a:srgbClr val="0070C0"/>
                </a:solidFill>
                <a:highlight>
                  <a:srgbClr val="FFFF00"/>
                </a:highlight>
              </a:rPr>
              <a:t>prévia</a:t>
            </a:r>
            <a:r>
              <a:rPr lang="pt-BR" sz="2200" b="1" dirty="0">
                <a:solidFill>
                  <a:srgbClr val="0070C0"/>
                </a:solidFill>
              </a:rPr>
              <a:t> da sua solução (MVP) em formato de imagem e texto:  </a:t>
            </a:r>
            <a:r>
              <a:rPr lang="pt-BR" sz="2200" dirty="0"/>
              <a:t>Por meio de capturas de tela (prints) que ilustrem as funcionalidades do MVP. No caso das capturas de tela, é crucial fornecer explicações detalhadas para cada uma delas, destacando as diversas funcionalidades da sua solução. Esse compartilhamento de informações contribuirá para uma compreensão mais abrangente do seu MVP.</a:t>
            </a:r>
          </a:p>
        </p:txBody>
      </p:sp>
    </p:spTree>
    <p:extLst>
      <p:ext uri="{BB962C8B-B14F-4D97-AF65-F5344CB8AC3E}">
        <p14:creationId xmlns:p14="http://schemas.microsoft.com/office/powerpoint/2010/main" val="1812676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33D4CA9-FED5-2DE5-9520-2F6C30421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849" y="1690687"/>
            <a:ext cx="11824291" cy="496494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t-BR" sz="4600" dirty="0">
                <a:solidFill>
                  <a:srgbClr val="0070C0"/>
                </a:solidFill>
              </a:rPr>
              <a:t>#Dicas</a:t>
            </a:r>
          </a:p>
          <a:p>
            <a:pPr marL="0" indent="0">
              <a:buNone/>
            </a:pPr>
            <a:endParaRPr lang="pt-BR" sz="4600" dirty="0">
              <a:solidFill>
                <a:srgbClr val="0070C0"/>
              </a:solidFill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pt-BR" sz="4600" dirty="0"/>
              <a:t>Nessa parte da entrega, são esperados os seguintes itens, baseados na arquitetura proposta e revisada: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pt-BR" sz="1500" dirty="0"/>
          </a:p>
          <a:p>
            <a:pPr marL="541338"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4000" dirty="0"/>
              <a:t>Indicar todas as fontes de dados utilizadas na sua solução</a:t>
            </a:r>
          </a:p>
          <a:p>
            <a:pPr marL="541338"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4000" dirty="0"/>
              <a:t>Entregar algoritmos, métodos, manipulações e transformações utilizadas</a:t>
            </a:r>
          </a:p>
          <a:p>
            <a:pPr marL="541338"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sz="4000" dirty="0"/>
              <a:t>Outros tópicos desejáveis:</a:t>
            </a:r>
          </a:p>
          <a:p>
            <a:pPr marL="895350" lvl="3" indent="-177800" algn="just" defTabSz="806450">
              <a:lnSpc>
                <a:spcPct val="100000"/>
              </a:lnSpc>
            </a:pPr>
            <a:r>
              <a:rPr lang="pt-BR" sz="3600" dirty="0" err="1"/>
              <a:t>Print´s</a:t>
            </a:r>
            <a:r>
              <a:rPr lang="pt-BR" sz="3600" dirty="0"/>
              <a:t> de telas, apresentando o tratamento de dados</a:t>
            </a:r>
          </a:p>
          <a:p>
            <a:pPr marL="895350" lvl="3" indent="-177800" algn="just" defTabSz="806450">
              <a:lnSpc>
                <a:spcPct val="100000"/>
              </a:lnSpc>
            </a:pPr>
            <a:r>
              <a:rPr lang="pt-BR" sz="3600" dirty="0"/>
              <a:t>Amostra de dados utilizados/populados</a:t>
            </a:r>
          </a:p>
          <a:p>
            <a:pPr marL="895350" lvl="3" indent="-177800" algn="just" defTabSz="806450">
              <a:lnSpc>
                <a:spcPct val="100000"/>
              </a:lnSpc>
            </a:pPr>
            <a:r>
              <a:rPr lang="pt-BR" sz="3600" dirty="0"/>
              <a:t>Algoritmos utilizando modelos matemáticos e estatísticos, contemplando a lógica aplicada na solução</a:t>
            </a:r>
          </a:p>
          <a:p>
            <a:pPr marL="895350" lvl="3" indent="-177800" algn="just" defTabSz="806450">
              <a:lnSpc>
                <a:spcPct val="100000"/>
              </a:lnSpc>
            </a:pPr>
            <a:r>
              <a:rPr lang="pt-BR" sz="3600" dirty="0"/>
              <a:t>Imagens das visualizações obtidas (dashboard, gráficos, relatórios ou tabelas) que apoiam a tomada de decisão</a:t>
            </a:r>
          </a:p>
          <a:p>
            <a:pPr marL="895350" lvl="3" indent="-177800" algn="just" defTabSz="806450">
              <a:lnSpc>
                <a:spcPct val="100000"/>
              </a:lnSpc>
            </a:pPr>
            <a:r>
              <a:rPr lang="pt-BR" sz="3600" dirty="0"/>
              <a:t>Descreva os tópicos desejáveis, enriquecendo ainda mais sua entrega	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pt-BR" sz="2200" dirty="0"/>
          </a:p>
          <a:p>
            <a:pPr marL="0" indent="0" algn="just">
              <a:lnSpc>
                <a:spcPct val="100000"/>
              </a:lnSpc>
              <a:buNone/>
            </a:pPr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48A0B82-CBE9-57FF-F2BA-632EFC494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8882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VERSÃO PRELIMINAR DO MVP, BASEADO NA ARQUITETURA E PROTÓTIPOS </a:t>
            </a:r>
          </a:p>
        </p:txBody>
      </p:sp>
    </p:spTree>
    <p:extLst>
      <p:ext uri="{BB962C8B-B14F-4D97-AF65-F5344CB8AC3E}">
        <p14:creationId xmlns:p14="http://schemas.microsoft.com/office/powerpoint/2010/main" val="3258614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dirty="0"/>
              <a:t>FINALIZAÇÃO E AGRADECIMENTOS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973586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#DICAS</a:t>
            </a:r>
          </a:p>
          <a:p>
            <a:pPr marL="0" indent="0">
              <a:buNone/>
            </a:pPr>
            <a:endParaRPr lang="pt-BR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Aqui você pode inserir uma conclusão final e agradecer as pessoas que participaram e contribuíram com seu projeto.</a:t>
            </a:r>
          </a:p>
        </p:txBody>
      </p:sp>
    </p:spTree>
    <p:extLst>
      <p:ext uri="{BB962C8B-B14F-4D97-AF65-F5344CB8AC3E}">
        <p14:creationId xmlns:p14="http://schemas.microsoft.com/office/powerpoint/2010/main" val="4142466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6587DEE977C9143A042F3416864AA9F" ma:contentTypeVersion="14" ma:contentTypeDescription="Crie um novo documento." ma:contentTypeScope="" ma:versionID="b776d5c7476308f23990203070e527c2">
  <xsd:schema xmlns:xsd="http://www.w3.org/2001/XMLSchema" xmlns:xs="http://www.w3.org/2001/XMLSchema" xmlns:p="http://schemas.microsoft.com/office/2006/metadata/properties" xmlns:ns2="34cf085e-19ad-4e7f-97e3-12854e4d6797" xmlns:ns3="00791995-7579-403d-890a-6e3e017e0c43" targetNamespace="http://schemas.microsoft.com/office/2006/metadata/properties" ma:root="true" ma:fieldsID="ccf2e705405bc4c319ffb32212e0e85a" ns2:_="" ns3:_="">
    <xsd:import namespace="34cf085e-19ad-4e7f-97e3-12854e4d6797"/>
    <xsd:import namespace="00791995-7579-403d-890a-6e3e017e0c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cf085e-19ad-4e7f-97e3-12854e4d67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791995-7579-403d-890a-6e3e017e0c4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e2ce42ba-8035-4113-bdb9-87496ce687b4}" ma:internalName="TaxCatchAll" ma:showField="CatchAllData" ma:web="00791995-7579-403d-890a-6e3e017e0c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0791995-7579-403d-890a-6e3e017e0c43" xsi:nil="true"/>
    <lcf76f155ced4ddcb4097134ff3c332f xmlns="34cf085e-19ad-4e7f-97e3-12854e4d6797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690939-84F2-41CC-AE90-A75B688056F2}"/>
</file>

<file path=customXml/itemProps2.xml><?xml version="1.0" encoding="utf-8"?>
<ds:datastoreItem xmlns:ds="http://schemas.openxmlformats.org/officeDocument/2006/customXml" ds:itemID="{9AA7BDEB-DE2C-4182-83A9-4B1B69848987}">
  <ds:schemaRefs>
    <ds:schemaRef ds:uri="http://schemas.microsoft.com/office/2006/metadata/properties"/>
    <ds:schemaRef ds:uri="http://schemas.microsoft.com/office/infopath/2007/PartnerControls"/>
    <ds:schemaRef ds:uri="eb947af2-26f0-411d-a536-f4cbb904cdf6"/>
    <ds:schemaRef ds:uri="5b046cae-d1d8-432d-b4bb-58d09b590569"/>
  </ds:schemaRefs>
</ds:datastoreItem>
</file>

<file path=customXml/itemProps3.xml><?xml version="1.0" encoding="utf-8"?>
<ds:datastoreItem xmlns:ds="http://schemas.openxmlformats.org/officeDocument/2006/customXml" ds:itemID="{048DB67B-E193-4B82-970E-79D5F996D42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1202</Words>
  <Application>Microsoft Office PowerPoint</Application>
  <PresentationFormat>Widescreen</PresentationFormat>
  <Paragraphs>106</Paragraphs>
  <Slides>14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Wingdings</vt:lpstr>
      <vt:lpstr>Tema do Office</vt:lpstr>
      <vt:lpstr>Apresentação do PowerPoint</vt:lpstr>
      <vt:lpstr>NOME DA SOLUÇÃO</vt:lpstr>
      <vt:lpstr>CONTEXTUALIZAÇÃO DO PROBLEMA</vt:lpstr>
      <vt:lpstr>PROBLEMA A SER RESOLVIDO</vt:lpstr>
      <vt:lpstr>PROPOSTA DE SOLUÇÃO</vt:lpstr>
      <vt:lpstr>DOCUMENTAÇÃO DO GERENCIAMENTO DE PROJETOS ATUALIZADA</vt:lpstr>
      <vt:lpstr>PLANEJAMENTO  E GESTÃO DO PROJETO</vt:lpstr>
      <vt:lpstr>ARQUITETURA DA SOLUÇÃO</vt:lpstr>
      <vt:lpstr>DESENHO DA ARQUITETURA DA SOLUÇÃO</vt:lpstr>
      <vt:lpstr>DESCRIÇÃO DA ARQUITETURA DA SOLUÇÃO</vt:lpstr>
      <vt:lpstr>DESCRIÇÃO DA ARQUITETURA DA SOLUÇÃO</vt:lpstr>
      <vt:lpstr>VERSÃO PRELIMINAR DO MVP, BASEADO NA ARQUITETURA E PROTÓTIPOS </vt:lpstr>
      <vt:lpstr>VERSÃO PRELIMINAR DO MVP, BASEADO NA ARQUITETURA E PROTÓTIPOS </vt:lpstr>
      <vt:lpstr>FINALIZAÇÃO E AGRADECIMENTOS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solução</dc:title>
  <dc:creator>Claudio Jose Carvajal</dc:creator>
  <cp:lastModifiedBy>Milton Goya</cp:lastModifiedBy>
  <cp:revision>53</cp:revision>
  <dcterms:created xsi:type="dcterms:W3CDTF">2016-03-03T21:44:23Z</dcterms:created>
  <dcterms:modified xsi:type="dcterms:W3CDTF">2026-03-12T02:59:18Z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0x01010086587DEE977C9143A042F3416864AA9F</vt:lpwstr>
  </property>
  <property fmtid="{D5CDD505-2E9C-101B-9397-08002B2CF9AE}" pid="3" name="MediaServiceImageTags">
    <vt:lpwstr/>
  </property>
</Properties>
</file>