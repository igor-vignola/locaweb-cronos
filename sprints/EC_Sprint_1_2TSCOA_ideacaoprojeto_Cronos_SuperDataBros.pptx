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7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3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5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36203ADE-6E8C-FBCD-BE1E-1069AD8D8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D5825D2E-E6F2-7A9E-1A60-20F41F613E59}"/>
              </a:ext>
            </a:extLst>
          </p:cNvPr>
          <p:cNvSpPr/>
          <p:nvPr/>
        </p:nvSpPr>
        <p:spPr>
          <a:xfrm>
            <a:off x="11430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20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58F98B1-9E60-C1F5-CE6F-F809162E6E3B}"/>
              </a:ext>
            </a:extLst>
          </p:cNvPr>
          <p:cNvSpPr/>
          <p:nvPr/>
        </p:nvSpPr>
        <p:spPr>
          <a:xfrm>
            <a:off x="548639" y="1463040"/>
            <a:ext cx="675952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5000"/>
              </a:lnSpc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</a:rPr>
              <a:t>I</a:t>
            </a:r>
            <a:r>
              <a:rPr lang="pt-BR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</a:rPr>
              <a:t>nteligência preditiva para incidentes operacionais</a:t>
            </a:r>
            <a:endParaRPr lang="en-US" sz="3800" b="1" dirty="0">
              <a:solidFill>
                <a:srgbClr val="FFFFFF"/>
              </a:solidFill>
              <a:latin typeface="Sora" pitchFamily="34" charset="0"/>
              <a:ea typeface="Sora" pitchFamily="34" charset="-122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870CC06-F766-8F9E-7D62-9B820D2C1067}"/>
              </a:ext>
            </a:extLst>
          </p:cNvPr>
          <p:cNvSpPr/>
          <p:nvPr/>
        </p:nvSpPr>
        <p:spPr>
          <a:xfrm>
            <a:off x="548640" y="282760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Challenge FIAP 2026 · Locaweb</a:t>
            </a:r>
            <a:endParaRPr lang="en-US" sz="1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A55DBAE-7002-9EA0-68F2-89093A4EE44B}"/>
              </a:ext>
            </a:extLst>
          </p:cNvPr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chemeClr val="bg1">
                    <a:lumMod val="7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ANTES. AJA ANTES.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15EC200-FF88-08B7-B4D6-E342E591444D}"/>
              </a:ext>
            </a:extLst>
          </p:cNvPr>
          <p:cNvSpPr/>
          <p:nvPr/>
        </p:nvSpPr>
        <p:spPr>
          <a:xfrm>
            <a:off x="45720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 Super Data Bros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IDENTIFICAÇÃO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 Super Data Bros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Turma 2TSCOA · Challenge FIAP 2026 · Locaweb</a:t>
            </a:r>
            <a:endParaRPr lang="en-US" sz="1300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B285AD0-D85F-2F1D-B242-F36541E58E90}"/>
              </a:ext>
            </a:extLst>
          </p:cNvPr>
          <p:cNvGrpSpPr/>
          <p:nvPr/>
        </p:nvGrpSpPr>
        <p:grpSpPr>
          <a:xfrm>
            <a:off x="548640" y="2560320"/>
            <a:ext cx="5486400" cy="512064"/>
            <a:chOff x="548640" y="2560320"/>
            <a:chExt cx="5486400" cy="512064"/>
          </a:xfrm>
        </p:grpSpPr>
        <p:sp>
          <p:nvSpPr>
            <p:cNvPr id="7" name="Shape 4"/>
            <p:cNvSpPr/>
            <p:nvPr/>
          </p:nvSpPr>
          <p:spPr>
            <a:xfrm>
              <a:off x="548640" y="2560320"/>
              <a:ext cx="5486400" cy="512064"/>
            </a:xfrm>
            <a:prstGeom prst="roundRect">
              <a:avLst>
                <a:gd name="adj" fmla="val 14286"/>
              </a:avLst>
            </a:prstGeom>
            <a:solidFill>
              <a:srgbClr val="F7F7F7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pt-BR" dirty="0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651760"/>
              <a:ext cx="329184" cy="329184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143000" y="2560320"/>
              <a:ext cx="3200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Ana Beatriz Costa de Oliveira</a:t>
              </a:r>
              <a:endParaRPr lang="en-US" sz="13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4114800" y="2560320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A3A3A3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RM561310</a:t>
              </a:r>
              <a:endParaRPr lang="en-US" sz="1100" dirty="0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E37086F-1E89-8A4F-2218-1822C5806BB6}"/>
              </a:ext>
            </a:extLst>
          </p:cNvPr>
          <p:cNvGrpSpPr/>
          <p:nvPr/>
        </p:nvGrpSpPr>
        <p:grpSpPr>
          <a:xfrm>
            <a:off x="548640" y="3266694"/>
            <a:ext cx="5486400" cy="512064"/>
            <a:chOff x="548640" y="3218688"/>
            <a:chExt cx="5486400" cy="512064"/>
          </a:xfrm>
        </p:grpSpPr>
        <p:sp>
          <p:nvSpPr>
            <p:cNvPr id="11" name="Shape 7"/>
            <p:cNvSpPr/>
            <p:nvPr/>
          </p:nvSpPr>
          <p:spPr>
            <a:xfrm>
              <a:off x="548640" y="3218688"/>
              <a:ext cx="5486400" cy="512064"/>
            </a:xfrm>
            <a:prstGeom prst="roundRect">
              <a:avLst>
                <a:gd name="adj" fmla="val 14286"/>
              </a:avLst>
            </a:prstGeom>
            <a:solidFill>
              <a:srgbClr val="F7F7F7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pt-BR" dirty="0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3310128"/>
              <a:ext cx="329184" cy="329184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1143000" y="3218688"/>
              <a:ext cx="3200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Hygor Abrantes</a:t>
              </a:r>
              <a:endParaRPr lang="en-US" sz="13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4114800" y="3218688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A3A3A3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RM565063</a:t>
              </a:r>
              <a:endParaRPr lang="en-US" sz="1100" dirty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E154129-44F2-CA9E-B3E0-AE6D2E096092}"/>
              </a:ext>
            </a:extLst>
          </p:cNvPr>
          <p:cNvGrpSpPr/>
          <p:nvPr/>
        </p:nvGrpSpPr>
        <p:grpSpPr>
          <a:xfrm>
            <a:off x="548640" y="3973068"/>
            <a:ext cx="5486400" cy="512064"/>
            <a:chOff x="548640" y="3877056"/>
            <a:chExt cx="5486400" cy="512064"/>
          </a:xfrm>
        </p:grpSpPr>
        <p:sp>
          <p:nvSpPr>
            <p:cNvPr id="15" name="Shape 10"/>
            <p:cNvSpPr/>
            <p:nvPr/>
          </p:nvSpPr>
          <p:spPr>
            <a:xfrm>
              <a:off x="548640" y="3877056"/>
              <a:ext cx="5486400" cy="512064"/>
            </a:xfrm>
            <a:prstGeom prst="roundRect">
              <a:avLst>
                <a:gd name="adj" fmla="val 14286"/>
              </a:avLst>
            </a:prstGeom>
            <a:solidFill>
              <a:srgbClr val="F7F7F7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pt-BR" dirty="0"/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3968496"/>
              <a:ext cx="329184" cy="329184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1143000" y="3877056"/>
              <a:ext cx="3200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Igor Vignola</a:t>
              </a:r>
              <a:endParaRPr lang="en-US" sz="1300" dirty="0"/>
            </a:p>
          </p:txBody>
        </p:sp>
        <p:sp>
          <p:nvSpPr>
            <p:cNvPr id="18" name="Text 12"/>
            <p:cNvSpPr/>
            <p:nvPr/>
          </p:nvSpPr>
          <p:spPr>
            <a:xfrm>
              <a:off x="4114800" y="3877056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A3A3A3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RM561428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57" y="921436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8288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ANTES. AJA ANTES.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pt-BR" sz="1400" dirty="0"/>
              <a:t>O nome vem do deus grego do tempo. O projeto inteiro gira em torno disso: </a:t>
            </a:r>
            <a:br>
              <a:rPr lang="pt-BR" sz="1400" dirty="0"/>
            </a:br>
            <a:r>
              <a:rPr lang="pt-BR" sz="1400" dirty="0"/>
              <a:t>prever o que vem, proteger os prazos que importam </a:t>
            </a:r>
            <a:br>
              <a:rPr lang="pt-BR" sz="1400" dirty="0"/>
            </a:br>
            <a:r>
              <a:rPr lang="pt-BR" sz="1400" dirty="0"/>
              <a:t>e agir antes que o problema apareça.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Contextualização do problema</a:t>
            </a:r>
            <a:endParaRPr lang="en-US" sz="2600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E601AEF-FF04-5B87-3210-C65A77B06E5B}"/>
              </a:ext>
            </a:extLst>
          </p:cNvPr>
          <p:cNvGrpSpPr/>
          <p:nvPr/>
        </p:nvGrpSpPr>
        <p:grpSpPr>
          <a:xfrm>
            <a:off x="548640" y="1870170"/>
            <a:ext cx="7554350" cy="685800"/>
            <a:chOff x="548640" y="1870170"/>
            <a:chExt cx="7554350" cy="685800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057400"/>
              <a:ext cx="329184" cy="329184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005839" y="1870170"/>
              <a:ext cx="7097151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150" dirty="0">
                  <a:solidFill>
                    <a:srgbClr val="525252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A Locaweb é uma das maiores empresas de hospedagem e cloud do Brasil, operando infraestrutura crítica 24 horas por dia, 7 dias por semana.</a:t>
              </a:r>
              <a:endParaRPr lang="en-US" sz="1150" dirty="0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F254098-8C55-FDE1-7E58-868EF1800C54}"/>
              </a:ext>
            </a:extLst>
          </p:cNvPr>
          <p:cNvGrpSpPr/>
          <p:nvPr/>
        </p:nvGrpSpPr>
        <p:grpSpPr>
          <a:xfrm>
            <a:off x="548640" y="2717839"/>
            <a:ext cx="7554350" cy="685800"/>
            <a:chOff x="548640" y="2647410"/>
            <a:chExt cx="7554350" cy="685800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2834640"/>
              <a:ext cx="329184" cy="329184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1005840" y="2647410"/>
              <a:ext cx="709715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150" dirty="0">
                  <a:solidFill>
                    <a:srgbClr val="525252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Cada falha nos servidores é registrada como um incidente. Em 3 anos, foram 122.543 incidentes — 85% detectados automaticamente por monitoramento.</a:t>
              </a:r>
              <a:endParaRPr lang="en-US" sz="1150" dirty="0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EDBC930-3322-4A37-E153-E3F7CCD3E0C5}"/>
              </a:ext>
            </a:extLst>
          </p:cNvPr>
          <p:cNvGrpSpPr/>
          <p:nvPr/>
        </p:nvGrpSpPr>
        <p:grpSpPr>
          <a:xfrm>
            <a:off x="548640" y="3565509"/>
            <a:ext cx="7554350" cy="685800"/>
            <a:chOff x="548640" y="3424650"/>
            <a:chExt cx="7554350" cy="685800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3611880"/>
              <a:ext cx="329184" cy="329184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1005840" y="3424650"/>
              <a:ext cx="709715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150" dirty="0">
                  <a:solidFill>
                    <a:srgbClr val="525252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O desafio proposto: usar inteligência artificial para prever incidentes e tendências operacionais antes que causem impacto.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· PROBLEMA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 a ser resolvido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79"/>
            <a:ext cx="2514600" cy="1786597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Operação reativa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520" y="295421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Problemas são tratados depois de acontecerem. Sem previsão do que vem pela frente.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91840" y="2011679"/>
            <a:ext cx="2514600" cy="1786597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148840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74720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Ruído operacional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474720" y="285574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66% dos incidentes se resolvem sozinhos, mas escondem sinais de falhas graves.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035040" y="2011679"/>
            <a:ext cx="2514600" cy="1786597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14884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0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Risco nos KPIs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217920" y="285574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248 OLAs estourados. Cada violação pesa na meta anual da operação.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4086667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11111"/>
          </a:solidFill>
          <a:ln/>
          <a:effectLst/>
        </p:spPr>
        <p:txBody>
          <a:bodyPr/>
          <a:lstStyle/>
          <a:p>
            <a:endParaRPr lang="pt-BR" dirty="0"/>
          </a:p>
        </p:txBody>
      </p:sp>
      <p:sp>
        <p:nvSpPr>
          <p:cNvPr id="19" name="Text 13"/>
          <p:cNvSpPr/>
          <p:nvPr/>
        </p:nvSpPr>
        <p:spPr>
          <a:xfrm>
            <a:off x="777240" y="4086667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"A Locaweb tem os dados, mas não tem a inteligência preditiva para transformar dados em antecipação."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F231097-2B96-7757-826E-9542EE620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B1D8765D-2B75-6F20-AE60-7AD94BA66C67}"/>
              </a:ext>
            </a:extLst>
          </p:cNvPr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0DD16D30-BA49-D288-D233-8CC5BC4C3390}"/>
              </a:ext>
            </a:extLst>
          </p:cNvPr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· PÚBLICO-ALVO</a:t>
            </a:r>
            <a:endParaRPr lang="en-US" sz="10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7687E65-4D3A-8FAE-D825-058ECE597671}"/>
              </a:ext>
            </a:extLst>
          </p:cNvPr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Quem vai usar o Cronos</a:t>
            </a:r>
            <a:endParaRPr lang="en-US" sz="26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E5D136D-6817-6980-2064-6F9F57C1BB55}"/>
              </a:ext>
            </a:extLst>
          </p:cNvPr>
          <p:cNvSpPr/>
          <p:nvPr/>
        </p:nvSpPr>
        <p:spPr>
          <a:xfrm>
            <a:off x="548640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73F75196-8424-8A1B-5BB7-4816A664C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86000"/>
            <a:ext cx="411480" cy="411480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A77BF33E-6C2C-59F4-799A-3A208E455E61}"/>
              </a:ext>
            </a:extLst>
          </p:cNvPr>
          <p:cNvSpPr/>
          <p:nvPr/>
        </p:nvSpPr>
        <p:spPr>
          <a:xfrm>
            <a:off x="7315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de operações</a:t>
            </a:r>
            <a:endParaRPr lang="en-US" sz="14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6B6C53A-1F5E-4566-71E5-FF4AB063F807}"/>
              </a:ext>
            </a:extLst>
          </p:cNvPr>
          <p:cNvSpPr/>
          <p:nvPr/>
        </p:nvSpPr>
        <p:spPr>
          <a:xfrm>
            <a:off x="731520" y="32004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Responde pelas metas de OLA e pela operação como um todo. Usa o Cronos para antecipar riscos e proteger os KPIs antes que estourem.</a:t>
            </a:r>
            <a:endParaRPr lang="en-US" sz="10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FD2830E2-962E-DFC1-A143-310EE3D342A3}"/>
              </a:ext>
            </a:extLst>
          </p:cNvPr>
          <p:cNvSpPr/>
          <p:nvPr/>
        </p:nvSpPr>
        <p:spPr>
          <a:xfrm>
            <a:off x="3291840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35D2194C-9B81-E036-97E5-A7F4F6BCA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286000"/>
            <a:ext cx="411480" cy="411480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F4F849FC-2C81-0F52-8D61-D59F377EFEE7}"/>
              </a:ext>
            </a:extLst>
          </p:cNvPr>
          <p:cNvSpPr/>
          <p:nvPr/>
        </p:nvSpPr>
        <p:spPr>
          <a:xfrm>
            <a:off x="34747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SRE / Líder Técnico</a:t>
            </a:r>
            <a:endParaRPr lang="en-US" sz="1400" b="1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86D22424-9B23-956E-96AC-360BA320AC63}"/>
              </a:ext>
            </a:extLst>
          </p:cNvPr>
          <p:cNvSpPr/>
          <p:nvPr/>
        </p:nvSpPr>
        <p:spPr>
          <a:xfrm>
            <a:off x="3474720" y="3052685"/>
            <a:ext cx="2148840" cy="1512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Coordena plantões e decide onde concentrar esforço no dia. Usa o briefing e o detector de cascata para se antecipar.</a:t>
            </a:r>
            <a:endParaRPr lang="en-US" sz="105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CF78FD65-EC7E-FBC0-83D6-3CA98D5EFC9B}"/>
              </a:ext>
            </a:extLst>
          </p:cNvPr>
          <p:cNvSpPr/>
          <p:nvPr/>
        </p:nvSpPr>
        <p:spPr>
          <a:xfrm>
            <a:off x="6035040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4214BCEF-552E-B4AE-F111-7C28EB4CA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286000"/>
            <a:ext cx="411480" cy="411480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CF06ECCA-377A-E7E4-DC01-E1D0124B22E0}"/>
              </a:ext>
            </a:extLst>
          </p:cNvPr>
          <p:cNvSpPr/>
          <p:nvPr/>
        </p:nvSpPr>
        <p:spPr>
          <a:xfrm>
            <a:off x="62179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Equipes técnicas</a:t>
            </a:r>
            <a:endParaRPr lang="en-US" sz="14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12C52E2-9B53-4012-6319-13EF2E5C047D}"/>
              </a:ext>
            </a:extLst>
          </p:cNvPr>
          <p:cNvSpPr/>
          <p:nvPr/>
        </p:nvSpPr>
        <p:spPr>
          <a:xfrm>
            <a:off x="6217920" y="3066759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Resolvem os incidentes na prática. </a:t>
            </a:r>
            <a:b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</a:br>
            <a: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 beneficiam de previsões para se preparar antes dos picos.</a:t>
            </a:r>
            <a:endParaRPr lang="en-US" sz="1050" dirty="0"/>
          </a:p>
        </p:txBody>
      </p:sp>
      <p:sp>
        <p:nvSpPr>
          <p:cNvPr id="34" name="Badge Estrategico">
            <a:extLst>
              <a:ext uri="{FF2B5EF4-FFF2-40B4-BE49-F238E27FC236}">
                <a16:creationId xmlns:a16="http://schemas.microsoft.com/office/drawing/2014/main" id="{566C9AFF-29DA-5F60-E462-FA333DCE067B}"/>
              </a:ext>
            </a:extLst>
          </p:cNvPr>
          <p:cNvSpPr/>
          <p:nvPr/>
        </p:nvSpPr>
        <p:spPr>
          <a:xfrm>
            <a:off x="2031274" y="2283120"/>
            <a:ext cx="851966" cy="2200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pt-BR" sz="700" b="1" kern="0" spc="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ESTRATÉGICO</a:t>
            </a:r>
            <a:endParaRPr lang="en-US" sz="700" dirty="0"/>
          </a:p>
        </p:txBody>
      </p:sp>
      <p:sp>
        <p:nvSpPr>
          <p:cNvPr id="35" name="Badge Tatico">
            <a:extLst>
              <a:ext uri="{FF2B5EF4-FFF2-40B4-BE49-F238E27FC236}">
                <a16:creationId xmlns:a16="http://schemas.microsoft.com/office/drawing/2014/main" id="{115AA078-99C2-0329-D2CB-869AE7ED2C71}"/>
              </a:ext>
            </a:extLst>
          </p:cNvPr>
          <p:cNvSpPr/>
          <p:nvPr/>
        </p:nvSpPr>
        <p:spPr>
          <a:xfrm>
            <a:off x="5016136" y="2283120"/>
            <a:ext cx="610303" cy="2200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pt-BR" sz="700" b="1" kern="0" spc="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TÁTICO</a:t>
            </a:r>
            <a:endParaRPr lang="en-US" sz="700" dirty="0"/>
          </a:p>
        </p:txBody>
      </p:sp>
      <p:sp>
        <p:nvSpPr>
          <p:cNvPr id="36" name="Badge Operacional">
            <a:extLst>
              <a:ext uri="{FF2B5EF4-FFF2-40B4-BE49-F238E27FC236}">
                <a16:creationId xmlns:a16="http://schemas.microsoft.com/office/drawing/2014/main" id="{55CECCBA-3520-0A6A-4886-223E8E88CA64}"/>
              </a:ext>
            </a:extLst>
          </p:cNvPr>
          <p:cNvSpPr/>
          <p:nvPr/>
        </p:nvSpPr>
        <p:spPr>
          <a:xfrm>
            <a:off x="7441040" y="2283120"/>
            <a:ext cx="928600" cy="2200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pt-BR" sz="700" b="1" kern="0" spc="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OPERACIONAL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35D11D-CC1F-65A9-4516-8D96EDFF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6B8082B-A1B3-A724-F331-36CB746D999C}"/>
              </a:ext>
            </a:extLst>
          </p:cNvPr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EE1D2E-3810-9C1E-A8F8-402C741010E2}"/>
              </a:ext>
            </a:extLst>
          </p:cNvPr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122.543 incidentes  ·  248 OLAs violados  ·  66% ruído  ·  0 ferramentas preditivas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FC232A9-FE5C-3197-DDB4-4BDB7582BF4E}"/>
              </a:ext>
            </a:extLst>
          </p:cNvPr>
          <p:cNvSpPr/>
          <p:nvPr/>
        </p:nvSpPr>
        <p:spPr>
          <a:xfrm>
            <a:off x="137160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transformar</a:t>
            </a:r>
            <a:endParaRPr lang="en-US" sz="4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essa realidade?</a:t>
            </a:r>
            <a:endParaRPr lang="en-US" sz="4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8CBFA99-2FE4-3B9A-0C56-DECDAD35D2D8}"/>
              </a:ext>
            </a:extLst>
          </p:cNvPr>
          <p:cNvSpPr/>
          <p:nvPr/>
        </p:nvSpPr>
        <p:spPr>
          <a:xfrm>
            <a:off x="3657600" y="3611880"/>
            <a:ext cx="1828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6EB6F93-5EC0-B902-BF3F-EBBC370594F2}"/>
              </a:ext>
            </a:extLst>
          </p:cNvPr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 inteligência preditiva construída sob medida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 os dados e as regras da Locaweb.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164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SOLUÇÃO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o desafio exige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Cronos é um painel inteligente que transforma 3 anos de dados em previsões e alertas automáticos.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44" y="269600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2964" y="2589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Previsão D+1 e D+7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2964" y="2837591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Volume de incidentes por prioridade P2 e P3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63440" y="24688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844" y="269600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7764" y="2589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Projeção de KPI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7764" y="283242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Risco de perda de OLA e probabilidade de atingir meta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3566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044" y="381880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2964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Classificação de padrões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32964" y="3932510"/>
            <a:ext cx="3036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Agrupamento de incidentes similares e causas recorrentes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63440" y="3566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844" y="38188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7764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Explicabilidade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347764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</a:rPr>
              <a:t>Entender o que está por trás de cada alerta</a:t>
            </a:r>
            <a:endParaRPr lang="en-US" sz="1000" dirty="0">
              <a:solidFill>
                <a:srgbClr val="737373"/>
              </a:solidFill>
              <a:latin typeface="Sora" pitchFamily="34" charset="0"/>
              <a:ea typeface="Sora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FB530CFD-84C3-FB3F-ED00-9CD1FC212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44" name="Text 0">
            <a:extLst>
              <a:ext uri="{FF2B5EF4-FFF2-40B4-BE49-F238E27FC236}">
                <a16:creationId xmlns:a16="http://schemas.microsoft.com/office/drawing/2014/main" id="{1C755079-E69A-7775-F7D7-25D362F507F1}"/>
              </a:ext>
            </a:extLst>
          </p:cNvPr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C9FB5CC2-0774-3DF8-2396-9A20FBC47381}"/>
              </a:ext>
            </a:extLst>
          </p:cNvPr>
          <p:cNvSpPr/>
          <p:nvPr/>
        </p:nvSpPr>
        <p:spPr>
          <a:xfrm>
            <a:off x="54864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DIFERENCIAL 1</a:t>
            </a:r>
            <a:endParaRPr lang="en-US" sz="100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8956BAF8-E6D0-88B7-BFF4-F96C2FC16976}"/>
              </a:ext>
            </a:extLst>
          </p:cNvPr>
          <p:cNvSpPr/>
          <p:nvPr/>
        </p:nvSpPr>
        <p:spPr>
          <a:xfrm>
            <a:off x="54864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Morning briefing</a:t>
            </a:r>
            <a:endParaRPr lang="en-US" sz="22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149343A5-3096-42EA-D356-6919B1791269}"/>
              </a:ext>
            </a:extLst>
          </p:cNvPr>
          <p:cNvSpPr/>
          <p:nvPr/>
        </p:nvSpPr>
        <p:spPr>
          <a:xfrm>
            <a:off x="228600" y="1554480"/>
            <a:ext cx="8686800" cy="342900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7B368948-2EC5-BFD9-F2DF-1329136D1339}"/>
              </a:ext>
            </a:extLst>
          </p:cNvPr>
          <p:cNvSpPr/>
          <p:nvPr/>
        </p:nvSpPr>
        <p:spPr>
          <a:xfrm>
            <a:off x="228600" y="1554480"/>
            <a:ext cx="8686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65BAD0A9-B156-B1AF-BD75-6E491871B0E1}"/>
              </a:ext>
            </a:extLst>
          </p:cNvPr>
          <p:cNvSpPr/>
          <p:nvPr/>
        </p:nvSpPr>
        <p:spPr>
          <a:xfrm>
            <a:off x="411480" y="16276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A403B6E2-32F5-F143-A9B2-A71CE77F20E3}"/>
              </a:ext>
            </a:extLst>
          </p:cNvPr>
          <p:cNvSpPr/>
          <p:nvPr/>
        </p:nvSpPr>
        <p:spPr>
          <a:xfrm>
            <a:off x="685800" y="1664208"/>
            <a:ext cx="548640" cy="9144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06D5F39D-C67C-59CE-4F0D-529D0F98E2B0}"/>
              </a:ext>
            </a:extLst>
          </p:cNvPr>
          <p:cNvSpPr/>
          <p:nvPr/>
        </p:nvSpPr>
        <p:spPr>
          <a:xfrm>
            <a:off x="1463040" y="1664208"/>
            <a:ext cx="45720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FB097A11-525E-1330-167E-3BD55D1753F5}"/>
              </a:ext>
            </a:extLst>
          </p:cNvPr>
          <p:cNvSpPr/>
          <p:nvPr/>
        </p:nvSpPr>
        <p:spPr>
          <a:xfrm>
            <a:off x="2103120" y="1664208"/>
            <a:ext cx="41148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6082F103-38BC-1608-5373-A1D5535BC549}"/>
              </a:ext>
            </a:extLst>
          </p:cNvPr>
          <p:cNvSpPr/>
          <p:nvPr/>
        </p:nvSpPr>
        <p:spPr>
          <a:xfrm>
            <a:off x="457200" y="20574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B049C41B-183D-EA56-2194-973419680F89}"/>
              </a:ext>
            </a:extLst>
          </p:cNvPr>
          <p:cNvSpPr/>
          <p:nvPr/>
        </p:nvSpPr>
        <p:spPr>
          <a:xfrm>
            <a:off x="640080" y="2194560"/>
            <a:ext cx="731520" cy="1371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0EA5F8F8-D258-E2C3-7342-8CC3C48FE31D}"/>
              </a:ext>
            </a:extLst>
          </p:cNvPr>
          <p:cNvSpPr/>
          <p:nvPr/>
        </p:nvSpPr>
        <p:spPr>
          <a:xfrm>
            <a:off x="640080" y="2423160"/>
            <a:ext cx="109728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9FA67FBA-B1DB-CB8E-8C6E-D4BB41E9BA7B}"/>
              </a:ext>
            </a:extLst>
          </p:cNvPr>
          <p:cNvSpPr/>
          <p:nvPr/>
        </p:nvSpPr>
        <p:spPr>
          <a:xfrm>
            <a:off x="2560320" y="20574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2A66EC33-8FD4-E51D-F0F2-67F1AB83A3D3}"/>
              </a:ext>
            </a:extLst>
          </p:cNvPr>
          <p:cNvSpPr/>
          <p:nvPr/>
        </p:nvSpPr>
        <p:spPr>
          <a:xfrm>
            <a:off x="2743200" y="2194560"/>
            <a:ext cx="731520" cy="1371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A8ACC526-57AF-01F8-5C65-3EBB6F125F70}"/>
              </a:ext>
            </a:extLst>
          </p:cNvPr>
          <p:cNvSpPr/>
          <p:nvPr/>
        </p:nvSpPr>
        <p:spPr>
          <a:xfrm>
            <a:off x="2743200" y="2423160"/>
            <a:ext cx="109728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B68BF79-46C5-854A-6C11-EDF099B1B025}"/>
              </a:ext>
            </a:extLst>
          </p:cNvPr>
          <p:cNvSpPr/>
          <p:nvPr/>
        </p:nvSpPr>
        <p:spPr>
          <a:xfrm>
            <a:off x="4663440" y="20574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28D9566-DEF0-80C2-D30D-0A76FCE4126D}"/>
              </a:ext>
            </a:extLst>
          </p:cNvPr>
          <p:cNvSpPr/>
          <p:nvPr/>
        </p:nvSpPr>
        <p:spPr>
          <a:xfrm>
            <a:off x="4846320" y="2194560"/>
            <a:ext cx="731520" cy="1371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51EB7C68-FB7C-F6D8-15A1-8F988989BCAC}"/>
              </a:ext>
            </a:extLst>
          </p:cNvPr>
          <p:cNvSpPr/>
          <p:nvPr/>
        </p:nvSpPr>
        <p:spPr>
          <a:xfrm>
            <a:off x="4846320" y="2423160"/>
            <a:ext cx="109728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AECF2692-E564-D33C-B45F-6FAE3F5B1478}"/>
              </a:ext>
            </a:extLst>
          </p:cNvPr>
          <p:cNvSpPr/>
          <p:nvPr/>
        </p:nvSpPr>
        <p:spPr>
          <a:xfrm>
            <a:off x="6766560" y="20574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1AC8F329-F6F5-F1FC-6EF3-C8DB99678229}"/>
              </a:ext>
            </a:extLst>
          </p:cNvPr>
          <p:cNvSpPr/>
          <p:nvPr/>
        </p:nvSpPr>
        <p:spPr>
          <a:xfrm>
            <a:off x="6949440" y="2194560"/>
            <a:ext cx="731520" cy="13716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61329F28-D4B1-B452-CD0F-18F8E8746354}"/>
              </a:ext>
            </a:extLst>
          </p:cNvPr>
          <p:cNvSpPr/>
          <p:nvPr/>
        </p:nvSpPr>
        <p:spPr>
          <a:xfrm>
            <a:off x="6949440" y="2423160"/>
            <a:ext cx="1097280" cy="914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5401755E-E0C2-753B-5FD4-D5495150BE28}"/>
              </a:ext>
            </a:extLst>
          </p:cNvPr>
          <p:cNvSpPr/>
          <p:nvPr/>
        </p:nvSpPr>
        <p:spPr>
          <a:xfrm>
            <a:off x="457200" y="301752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42E05937-ACA4-1FE8-A02C-A595D99E4673}"/>
              </a:ext>
            </a:extLst>
          </p:cNvPr>
          <p:cNvSpPr/>
          <p:nvPr/>
        </p:nvSpPr>
        <p:spPr>
          <a:xfrm>
            <a:off x="640080" y="3520440"/>
            <a:ext cx="4846320" cy="274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1C24B505-AA0C-9E48-4FA3-F3018E9919B3}"/>
              </a:ext>
            </a:extLst>
          </p:cNvPr>
          <p:cNvSpPr/>
          <p:nvPr/>
        </p:nvSpPr>
        <p:spPr>
          <a:xfrm>
            <a:off x="640080" y="3840480"/>
            <a:ext cx="4846320" cy="274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A8A866A4-A224-01F1-68ED-E3559023DF7E}"/>
              </a:ext>
            </a:extLst>
          </p:cNvPr>
          <p:cNvSpPr/>
          <p:nvPr/>
        </p:nvSpPr>
        <p:spPr>
          <a:xfrm>
            <a:off x="640080" y="4160520"/>
            <a:ext cx="4846320" cy="274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89D98A5A-364E-F038-D376-51414150988A}"/>
              </a:ext>
            </a:extLst>
          </p:cNvPr>
          <p:cNvSpPr/>
          <p:nvPr/>
        </p:nvSpPr>
        <p:spPr>
          <a:xfrm>
            <a:off x="640080" y="4480560"/>
            <a:ext cx="4846320" cy="274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03EE0C15-B886-8961-9C77-DC744B32BB56}"/>
              </a:ext>
            </a:extLst>
          </p:cNvPr>
          <p:cNvSpPr/>
          <p:nvPr/>
        </p:nvSpPr>
        <p:spPr>
          <a:xfrm>
            <a:off x="5989320" y="301752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323AC34C-559B-DCBE-9B3C-CD23ACCAAA42}"/>
              </a:ext>
            </a:extLst>
          </p:cNvPr>
          <p:cNvSpPr/>
          <p:nvPr/>
        </p:nvSpPr>
        <p:spPr>
          <a:xfrm>
            <a:off x="6172200" y="3474720"/>
            <a:ext cx="2286000" cy="731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4D73DCDF-7171-1E51-1C5A-C8A0B7C43100}"/>
              </a:ext>
            </a:extLst>
          </p:cNvPr>
          <p:cNvSpPr/>
          <p:nvPr/>
        </p:nvSpPr>
        <p:spPr>
          <a:xfrm>
            <a:off x="6172200" y="3657600"/>
            <a:ext cx="2286000" cy="731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7207F4B2-29A2-EFBF-4BD8-C63B7E339E33}"/>
              </a:ext>
            </a:extLst>
          </p:cNvPr>
          <p:cNvSpPr/>
          <p:nvPr/>
        </p:nvSpPr>
        <p:spPr>
          <a:xfrm>
            <a:off x="6172200" y="3840480"/>
            <a:ext cx="2286000" cy="731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8361AC99-1C57-01A2-FC62-D080363D6A0C}"/>
              </a:ext>
            </a:extLst>
          </p:cNvPr>
          <p:cNvSpPr/>
          <p:nvPr/>
        </p:nvSpPr>
        <p:spPr>
          <a:xfrm>
            <a:off x="6172200" y="4023360"/>
            <a:ext cx="2286000" cy="731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EB9DDC6A-C6D5-6F0E-2A61-D7CBD06F92E8}"/>
              </a:ext>
            </a:extLst>
          </p:cNvPr>
          <p:cNvSpPr/>
          <p:nvPr/>
        </p:nvSpPr>
        <p:spPr>
          <a:xfrm>
            <a:off x="228600" y="1554480"/>
            <a:ext cx="8686800" cy="3429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32">
            <a:extLst>
              <a:ext uri="{FF2B5EF4-FFF2-40B4-BE49-F238E27FC236}">
                <a16:creationId xmlns:a16="http://schemas.microsoft.com/office/drawing/2014/main" id="{C561DE65-A46C-54DD-C098-72A112206C75}"/>
              </a:ext>
            </a:extLst>
          </p:cNvPr>
          <p:cNvSpPr/>
          <p:nvPr/>
        </p:nvSpPr>
        <p:spPr>
          <a:xfrm>
            <a:off x="1371600" y="1828800"/>
            <a:ext cx="640080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317500" dist="635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67B16FBA-DEB3-9062-C87D-8BC0CD80D50E}"/>
              </a:ext>
            </a:extLst>
          </p:cNvPr>
          <p:cNvSpPr/>
          <p:nvPr/>
        </p:nvSpPr>
        <p:spPr>
          <a:xfrm>
            <a:off x="1691640" y="20848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3E8D161-635A-5621-9124-C660FF43281A}"/>
              </a:ext>
            </a:extLst>
          </p:cNvPr>
          <p:cNvSpPr/>
          <p:nvPr/>
        </p:nvSpPr>
        <p:spPr>
          <a:xfrm>
            <a:off x="192024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Briefing do dia</a:t>
            </a:r>
            <a:endParaRPr lang="en-US" sz="140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86F2818E-96AD-967E-E745-57CF7D12F432}"/>
              </a:ext>
            </a:extLst>
          </p:cNvPr>
          <p:cNvSpPr/>
          <p:nvPr/>
        </p:nvSpPr>
        <p:spPr>
          <a:xfrm>
            <a:off x="54864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Qua, 15 Out 2025</a:t>
            </a:r>
            <a:endParaRPr lang="en-US" sz="1000" dirty="0"/>
          </a:p>
        </p:txBody>
      </p:sp>
      <p:sp>
        <p:nvSpPr>
          <p:cNvPr id="80" name="Shape 36">
            <a:extLst>
              <a:ext uri="{FF2B5EF4-FFF2-40B4-BE49-F238E27FC236}">
                <a16:creationId xmlns:a16="http://schemas.microsoft.com/office/drawing/2014/main" id="{29FE85AB-6712-9293-52BE-3C6CC912B2CA}"/>
              </a:ext>
            </a:extLst>
          </p:cNvPr>
          <p:cNvSpPr/>
          <p:nvPr/>
        </p:nvSpPr>
        <p:spPr>
          <a:xfrm>
            <a:off x="1691640" y="2331720"/>
            <a:ext cx="57607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A9D8BB25-D700-B942-51EA-AF7F6FC6556D}"/>
              </a:ext>
            </a:extLst>
          </p:cNvPr>
          <p:cNvSpPr/>
          <p:nvPr/>
        </p:nvSpPr>
        <p:spPr>
          <a:xfrm>
            <a:off x="1691640" y="2450592"/>
            <a:ext cx="36576" cy="457200"/>
          </a:xfrm>
          <a:prstGeom prst="rect">
            <a:avLst/>
          </a:prstGeom>
          <a:solidFill>
            <a:srgbClr val="D4D4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D4EF8B22-649E-639A-CEC4-4D19448F809A}"/>
              </a:ext>
            </a:extLst>
          </p:cNvPr>
          <p:cNvSpPr/>
          <p:nvPr/>
        </p:nvSpPr>
        <p:spPr>
          <a:xfrm>
            <a:off x="187452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Ontem: </a:t>
            </a:r>
            <a:r>
              <a:rPr lang="en-US" sz="105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142 incidentes (+12%), lhco concentrou 40% dos P2, Team14 a 89% no prazo mas caindo.</a:t>
            </a:r>
            <a:endParaRPr lang="en-US" sz="1050" dirty="0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5C9CFBFB-FB57-7D1C-E3DC-A13B1A610A96}"/>
              </a:ext>
            </a:extLst>
          </p:cNvPr>
          <p:cNvSpPr/>
          <p:nvPr/>
        </p:nvSpPr>
        <p:spPr>
          <a:xfrm>
            <a:off x="1691640" y="3035808"/>
            <a:ext cx="36576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40">
            <a:extLst>
              <a:ext uri="{FF2B5EF4-FFF2-40B4-BE49-F238E27FC236}">
                <a16:creationId xmlns:a16="http://schemas.microsoft.com/office/drawing/2014/main" id="{094A7BBE-3349-4563-0A8C-A12C9ED569C8}"/>
              </a:ext>
            </a:extLst>
          </p:cNvPr>
          <p:cNvSpPr/>
          <p:nvPr/>
        </p:nvSpPr>
        <p:spPr>
          <a:xfrm>
            <a:off x="187452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Previsão hoje: </a:t>
            </a: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modelo estima </a:t>
            </a:r>
            <a:r>
              <a:rPr lang="en-US" sz="1100" b="1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168 incidentes</a:t>
            </a: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— 28% acima da média. Quarta é historicamente o pior dia. Risco elevado de violação de OLA em P2 para </a:t>
            </a:r>
            <a:r>
              <a:rPr lang="en-US" sz="1100" b="1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lhco</a:t>
            </a: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</a:t>
            </a:r>
            <a:endParaRPr lang="en-US" sz="110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4592067D-6515-2BCF-CCDC-203DC1A1CB78}"/>
              </a:ext>
            </a:extLst>
          </p:cNvPr>
          <p:cNvSpPr/>
          <p:nvPr/>
        </p:nvSpPr>
        <p:spPr>
          <a:xfrm>
            <a:off x="1691640" y="3858768"/>
            <a:ext cx="36576" cy="41148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Text 42">
            <a:extLst>
              <a:ext uri="{FF2B5EF4-FFF2-40B4-BE49-F238E27FC236}">
                <a16:creationId xmlns:a16="http://schemas.microsoft.com/office/drawing/2014/main" id="{E05CCB6E-3939-53C2-6047-470BE035B8A5}"/>
              </a:ext>
            </a:extLst>
          </p:cNvPr>
          <p:cNvSpPr/>
          <p:nvPr/>
        </p:nvSpPr>
        <p:spPr>
          <a:xfrm>
            <a:off x="187452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Ações sugeridas: </a:t>
            </a:r>
            <a:r>
              <a:rPr lang="en-US" sz="105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reforçar Team14, monitorar lhco e cat71, antecipar escalonamento P2.</a:t>
            </a:r>
            <a:endParaRPr lang="en-US" sz="1050" dirty="0"/>
          </a:p>
        </p:txBody>
      </p:sp>
      <p:sp>
        <p:nvSpPr>
          <p:cNvPr id="87" name="Shape 43">
            <a:extLst>
              <a:ext uri="{FF2B5EF4-FFF2-40B4-BE49-F238E27FC236}">
                <a16:creationId xmlns:a16="http://schemas.microsoft.com/office/drawing/2014/main" id="{1AA71093-9587-403A-E838-064B9799D63F}"/>
              </a:ext>
            </a:extLst>
          </p:cNvPr>
          <p:cNvSpPr/>
          <p:nvPr/>
        </p:nvSpPr>
        <p:spPr>
          <a:xfrm>
            <a:off x="6309360" y="443484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Text 44">
            <a:extLst>
              <a:ext uri="{FF2B5EF4-FFF2-40B4-BE49-F238E27FC236}">
                <a16:creationId xmlns:a16="http://schemas.microsoft.com/office/drawing/2014/main" id="{37C37439-CC27-7EE6-5BA3-D7210F15E7A9}"/>
              </a:ext>
            </a:extLst>
          </p:cNvPr>
          <p:cNvSpPr/>
          <p:nvPr/>
        </p:nvSpPr>
        <p:spPr>
          <a:xfrm>
            <a:off x="630936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Entendi</a:t>
            </a:r>
            <a:endParaRPr lang="en-US" sz="1000" dirty="0"/>
          </a:p>
        </p:txBody>
      </p:sp>
      <p:sp>
        <p:nvSpPr>
          <p:cNvPr id="89" name="Text 45">
            <a:extLst>
              <a:ext uri="{FF2B5EF4-FFF2-40B4-BE49-F238E27FC236}">
                <a16:creationId xmlns:a16="http://schemas.microsoft.com/office/drawing/2014/main" id="{EE824428-5430-7078-00C2-20CA3BE6C5C6}"/>
              </a:ext>
            </a:extLst>
          </p:cNvPr>
          <p:cNvSpPr/>
          <p:nvPr/>
        </p:nvSpPr>
        <p:spPr>
          <a:xfrm>
            <a:off x="1691640" y="4462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 histórico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DIFERENCIAL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Detector de cascata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sistema monitora acúmulo de alertas pequenos e avisa quando o padrão historicamente precede uma falha grave.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2603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Shape 5"/>
          <p:cNvSpPr/>
          <p:nvPr/>
        </p:nvSpPr>
        <p:spPr>
          <a:xfrm>
            <a:off x="731520" y="2644902"/>
            <a:ext cx="475488" cy="457200"/>
          </a:xfrm>
          <a:prstGeom prst="roundRect">
            <a:avLst>
              <a:gd name="adj" fmla="val 16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731520" y="264490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61747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Volume P2 34% acima da média em lhco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89179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Team14 a 92% · 38 previstos vs 22 média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261747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08:42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334899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4" name="Shape 11"/>
          <p:cNvSpPr/>
          <p:nvPr/>
        </p:nvSpPr>
        <p:spPr>
          <a:xfrm>
            <a:off x="731520" y="3467862"/>
            <a:ext cx="475488" cy="457200"/>
          </a:xfrm>
          <a:prstGeom prst="roundRect">
            <a:avLst>
              <a:gd name="adj" fmla="val 16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5" name="Text 12"/>
          <p:cNvSpPr/>
          <p:nvPr/>
        </p:nvSpPr>
        <p:spPr>
          <a:xfrm>
            <a:off x="731520" y="346786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44043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P3 — tendência de alta há 5 dias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7147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Cat71 lidera · Meta OLA em risco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344043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07:15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417195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0" name="Shape 17"/>
          <p:cNvSpPr/>
          <p:nvPr/>
        </p:nvSpPr>
        <p:spPr>
          <a:xfrm>
            <a:off x="731520" y="4290822"/>
            <a:ext cx="475488" cy="457200"/>
          </a:xfrm>
          <a:prstGeom prst="roundRect">
            <a:avLst>
              <a:gd name="adj" fmla="val 16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1" name="Text 18"/>
          <p:cNvSpPr/>
          <p:nvPr/>
        </p:nvSpPr>
        <p:spPr>
          <a:xfrm>
            <a:off x="731520" y="429082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426339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Produto lhvp estável há 14 dias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0" y="453771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Nenhuma anomalia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426339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06:00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DIFERENCIAL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Score de saúde por produto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produto recebe uma nota de 0 a 100 com ranking, tendência e detalhe de como a nota é calculada.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772" y="251460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805372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Score de saúde por produto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5372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lhvp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08292" y="3154680"/>
            <a:ext cx="278892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1" name="Shape 8"/>
          <p:cNvSpPr/>
          <p:nvPr/>
        </p:nvSpPr>
        <p:spPr>
          <a:xfrm>
            <a:off x="1308292" y="3154680"/>
            <a:ext cx="2788920" cy="914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9"/>
          <p:cNvSpPr/>
          <p:nvPr/>
        </p:nvSpPr>
        <p:spPr>
          <a:xfrm>
            <a:off x="805372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lsin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308292" y="3566160"/>
            <a:ext cx="278892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Shape 11"/>
          <p:cNvSpPr/>
          <p:nvPr/>
        </p:nvSpPr>
        <p:spPr>
          <a:xfrm>
            <a:off x="1308292" y="3566160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5" name="Text 12"/>
          <p:cNvSpPr/>
          <p:nvPr/>
        </p:nvSpPr>
        <p:spPr>
          <a:xfrm>
            <a:off x="805372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lcem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08292" y="3977640"/>
            <a:ext cx="278892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Shape 14"/>
          <p:cNvSpPr/>
          <p:nvPr/>
        </p:nvSpPr>
        <p:spPr>
          <a:xfrm>
            <a:off x="1308292" y="397764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52525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Text 15"/>
          <p:cNvSpPr/>
          <p:nvPr/>
        </p:nvSpPr>
        <p:spPr>
          <a:xfrm>
            <a:off x="805372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lhco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08292" y="4389120"/>
            <a:ext cx="278892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0" name="Shape 17"/>
          <p:cNvSpPr/>
          <p:nvPr/>
        </p:nvSpPr>
        <p:spPr>
          <a:xfrm>
            <a:off x="1308292" y="4389120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1" name="Shape 18"/>
          <p:cNvSpPr/>
          <p:nvPr/>
        </p:nvSpPr>
        <p:spPr>
          <a:xfrm>
            <a:off x="4663440" y="251460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Text 19"/>
          <p:cNvSpPr/>
          <p:nvPr/>
        </p:nvSpPr>
        <p:spPr>
          <a:xfrm>
            <a:off x="4892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Carga por equipe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92040" y="3081528"/>
            <a:ext cx="256032" cy="25603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4" name="Text 21"/>
          <p:cNvSpPr/>
          <p:nvPr/>
        </p:nvSpPr>
        <p:spPr>
          <a:xfrm>
            <a:off x="48920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230368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Team14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0" y="3154680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7" name="Shape 24"/>
          <p:cNvSpPr/>
          <p:nvPr/>
        </p:nvSpPr>
        <p:spPr>
          <a:xfrm>
            <a:off x="5943600" y="315468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8" name="Shape 25"/>
          <p:cNvSpPr/>
          <p:nvPr/>
        </p:nvSpPr>
        <p:spPr>
          <a:xfrm>
            <a:off x="4892040" y="3493008"/>
            <a:ext cx="256032" cy="25603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9" name="Text 26"/>
          <p:cNvSpPr/>
          <p:nvPr/>
        </p:nvSpPr>
        <p:spPr>
          <a:xfrm>
            <a:off x="489204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230368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Team11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43600" y="3566160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2" name="Shape 29"/>
          <p:cNvSpPr/>
          <p:nvPr/>
        </p:nvSpPr>
        <p:spPr>
          <a:xfrm>
            <a:off x="5943600" y="3566160"/>
            <a:ext cx="2057400" cy="914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3" name="Shape 30"/>
          <p:cNvSpPr/>
          <p:nvPr/>
        </p:nvSpPr>
        <p:spPr>
          <a:xfrm>
            <a:off x="4892040" y="3904488"/>
            <a:ext cx="256032" cy="256032"/>
          </a:xfrm>
          <a:prstGeom prst="ellipse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4" name="Text 31"/>
          <p:cNvSpPr/>
          <p:nvPr/>
        </p:nvSpPr>
        <p:spPr>
          <a:xfrm>
            <a:off x="489204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230368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Team05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43600" y="3977640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7" name="Shape 34"/>
          <p:cNvSpPr/>
          <p:nvPr/>
        </p:nvSpPr>
        <p:spPr>
          <a:xfrm>
            <a:off x="5943600" y="397764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737373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8" name="Shape 35"/>
          <p:cNvSpPr/>
          <p:nvPr/>
        </p:nvSpPr>
        <p:spPr>
          <a:xfrm>
            <a:off x="4892040" y="4315968"/>
            <a:ext cx="256032" cy="256032"/>
          </a:xfrm>
          <a:prstGeom prst="ellipse">
            <a:avLst/>
          </a:prstGeom>
          <a:solidFill>
            <a:srgbClr val="A3A3A3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9" name="Text 36"/>
          <p:cNvSpPr/>
          <p:nvPr/>
        </p:nvSpPr>
        <p:spPr>
          <a:xfrm>
            <a:off x="489204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230368" y="4297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Team09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43600" y="4389120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2" name="Shape 39"/>
          <p:cNvSpPr/>
          <p:nvPr/>
        </p:nvSpPr>
        <p:spPr>
          <a:xfrm>
            <a:off x="5943600" y="4389120"/>
            <a:ext cx="1143000" cy="91440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>
            <a:extLst>
              <a:ext uri="{FF2B5EF4-FFF2-40B4-BE49-F238E27FC236}">
                <a16:creationId xmlns:a16="http://schemas.microsoft.com/office/drawing/2014/main" id="{8F0E1DB8-3F4F-A023-15DC-9E0AAF08B821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79212296-AB65-6919-D821-A0A919F98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EC408FE4-8780-F04D-9304-51F2283BE5A9}"/>
              </a:ext>
            </a:extLst>
          </p:cNvPr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E41CC86D-523F-17B7-4326-39F5845C3877}"/>
              </a:ext>
            </a:extLst>
          </p:cNvPr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 o Cronos</a:t>
            </a:r>
            <a:endParaRPr lang="en-US" sz="2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56179D6A-090F-CD8F-05CF-8CD8BF97F7F5}"/>
              </a:ext>
            </a:extLst>
          </p:cNvPr>
          <p:cNvSpPr/>
          <p:nvPr/>
        </p:nvSpPr>
        <p:spPr>
          <a:xfrm>
            <a:off x="457200" y="17373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52525"/>
          </a:solidFill>
          <a:ln/>
          <a:effectLst>
            <a:outerShdw blurRad="50800" dist="38100" dir="8100000" algn="tr" rotWithShape="0">
              <a:schemeClr val="bg1">
                <a:alpha val="40000"/>
              </a:scheme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0BCAFD84-BEE9-D0B9-30C9-FCAD69224A7F}"/>
              </a:ext>
            </a:extLst>
          </p:cNvPr>
          <p:cNvSpPr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Incidente acontece → equipe reage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9D49AC2D-2F0C-7EB1-7DEF-DC07DAA870EA}"/>
              </a:ext>
            </a:extLst>
          </p:cNvPr>
          <p:cNvSpPr/>
          <p:nvPr/>
        </p:nvSpPr>
        <p:spPr>
          <a:xfrm>
            <a:off x="457200" y="237744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52525"/>
          </a:solidFill>
          <a:ln/>
          <a:effectLst>
            <a:outerShdw blurRad="50800" dist="38100" dir="8100000" algn="tr" rotWithShape="0">
              <a:schemeClr val="bg1">
                <a:alpha val="40000"/>
              </a:scheme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7E110E20-D97B-89D0-93C6-8A4B393F1FB2}"/>
              </a:ext>
            </a:extLst>
          </p:cNvPr>
          <p:cNvSpPr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descobre quando já estourou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565CF9CF-A9A2-37CE-778C-FA3AD76FE3B2}"/>
              </a:ext>
            </a:extLst>
          </p:cNvPr>
          <p:cNvSpPr/>
          <p:nvPr/>
        </p:nvSpPr>
        <p:spPr>
          <a:xfrm>
            <a:off x="457200" y="301752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52525"/>
          </a:solidFill>
          <a:ln/>
          <a:effectLst>
            <a:outerShdw blurRad="50800" dist="38100" dir="8100000" algn="tr" rotWithShape="0">
              <a:schemeClr val="bg1">
                <a:alpha val="40000"/>
              </a:scheme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C3C75B53-DA4E-62D2-5334-F6BB455494F4}"/>
              </a:ext>
            </a:extLst>
          </p:cNvPr>
          <p:cNvSpPr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Equipes alocadas sem previsão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AD837C64-12A8-63EF-6B01-CCCFC8B355D4}"/>
              </a:ext>
            </a:extLst>
          </p:cNvPr>
          <p:cNvSpPr/>
          <p:nvPr/>
        </p:nvSpPr>
        <p:spPr>
          <a:xfrm>
            <a:off x="457200" y="36576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52525"/>
          </a:solidFill>
          <a:ln/>
          <a:effectLst>
            <a:outerShdw blurRad="50800" dist="38100" dir="8100000" algn="tr" rotWithShape="0">
              <a:schemeClr val="bg1">
                <a:alpha val="40000"/>
              </a:scheme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AB228AC8-5D23-232F-C8CF-462A06550CD6}"/>
              </a:ext>
            </a:extLst>
          </p:cNvPr>
          <p:cNvSpPr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OLAs estouram por falta de preparo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D04CCA16-E616-A766-BF9B-15A1F0247124}"/>
              </a:ext>
            </a:extLst>
          </p:cNvPr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 o Cronos</a:t>
            </a:r>
            <a:endParaRPr lang="en-US" sz="2200" dirty="0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5CF3D649-A6D8-6F81-08EE-E116E0F7A05B}"/>
              </a:ext>
            </a:extLst>
          </p:cNvPr>
          <p:cNvSpPr/>
          <p:nvPr/>
        </p:nvSpPr>
        <p:spPr>
          <a:xfrm>
            <a:off x="5029200" y="173736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59D986E5-2164-41E2-755D-A83B5E527985}"/>
              </a:ext>
            </a:extLst>
          </p:cNvPr>
          <p:cNvSpPr/>
          <p:nvPr/>
        </p:nvSpPr>
        <p:spPr>
          <a:xfrm>
            <a:off x="5212080" y="1737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 avisa → equipe se prepara</a:t>
            </a:r>
            <a:endParaRPr lang="en-US" sz="1050" dirty="0"/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F6EEC2FF-6186-D57E-FF57-802618C67711}"/>
              </a:ext>
            </a:extLst>
          </p:cNvPr>
          <p:cNvSpPr/>
          <p:nvPr/>
        </p:nvSpPr>
        <p:spPr>
          <a:xfrm>
            <a:off x="5029200" y="233172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B43A4C13-5755-E62C-F745-EAEB1A05EA54}"/>
              </a:ext>
            </a:extLst>
          </p:cNvPr>
          <p:cNvSpPr/>
          <p:nvPr/>
        </p:nvSpPr>
        <p:spPr>
          <a:xfrm>
            <a:off x="5212080" y="2331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vê riscos antes do problema</a:t>
            </a:r>
            <a:endParaRPr lang="en-US" sz="1050" dirty="0"/>
          </a:p>
        </p:txBody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CBEF9F96-ED90-5EB7-0936-E004F798A276}"/>
              </a:ext>
            </a:extLst>
          </p:cNvPr>
          <p:cNvSpPr/>
          <p:nvPr/>
        </p:nvSpPr>
        <p:spPr>
          <a:xfrm>
            <a:off x="5029200" y="292608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8713D4D5-7D3C-5A6D-A1D6-AA9FCAE28095}"/>
              </a:ext>
            </a:extLst>
          </p:cNvPr>
          <p:cNvSpPr/>
          <p:nvPr/>
        </p:nvSpPr>
        <p:spPr>
          <a:xfrm>
            <a:off x="5212080" y="29260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Equipes alocadas com base em previsão</a:t>
            </a:r>
            <a:endParaRPr lang="en-US" sz="105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304D110A-B3DE-2D7A-68A7-EA11947C8B16}"/>
              </a:ext>
            </a:extLst>
          </p:cNvPr>
          <p:cNvSpPr/>
          <p:nvPr/>
        </p:nvSpPr>
        <p:spPr>
          <a:xfrm>
            <a:off x="5029200" y="352044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0300F1C9-864E-4BF5-63E9-4C9076B34499}"/>
              </a:ext>
            </a:extLst>
          </p:cNvPr>
          <p:cNvSpPr/>
          <p:nvPr/>
        </p:nvSpPr>
        <p:spPr>
          <a:xfrm>
            <a:off x="5212080" y="35204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Alertas automáticos com recomendações</a:t>
            </a:r>
            <a:endParaRPr lang="en-US" sz="1050" dirty="0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ABEA34EA-F3FA-694A-203F-71302999AD94}"/>
              </a:ext>
            </a:extLst>
          </p:cNvPr>
          <p:cNvSpPr/>
          <p:nvPr/>
        </p:nvSpPr>
        <p:spPr>
          <a:xfrm>
            <a:off x="5029200" y="411480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B1CB799E-2163-90A7-3298-940006A736E1}"/>
              </a:ext>
            </a:extLst>
          </p:cNvPr>
          <p:cNvSpPr/>
          <p:nvPr/>
        </p:nvSpPr>
        <p:spPr>
          <a:xfrm>
            <a:off x="521208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OLAs protegidos pela antecipação</a:t>
            </a:r>
            <a:endParaRPr lang="en-US" sz="1050" dirty="0"/>
          </a:p>
        </p:txBody>
      </p:sp>
      <p:sp>
        <p:nvSpPr>
          <p:cNvPr id="76" name="Shape 22">
            <a:extLst>
              <a:ext uri="{FF2B5EF4-FFF2-40B4-BE49-F238E27FC236}">
                <a16:creationId xmlns:a16="http://schemas.microsoft.com/office/drawing/2014/main" id="{82295477-0DE0-91A8-390B-4200948FEAAE}"/>
              </a:ext>
            </a:extLst>
          </p:cNvPr>
          <p:cNvSpPr/>
          <p:nvPr/>
        </p:nvSpPr>
        <p:spPr>
          <a:xfrm>
            <a:off x="4343404" y="2377440"/>
            <a:ext cx="457200" cy="457200"/>
          </a:xfrm>
          <a:prstGeom prst="ellipse">
            <a:avLst/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B5D97464-0188-1828-EB52-79A56D5A1B6C}"/>
              </a:ext>
            </a:extLst>
          </p:cNvPr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· BENEFÍCIOS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Benefícios esperados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488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Redução de OLAs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Antecipação de picos permite ação preventiva, protegendo a meta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918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1488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Visibilidade preditiva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290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Sair do 'o que aconteceu' pro 'o que vai acontecer'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0350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14884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220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Alocação inteligente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1722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Saber quais times vão sobrecarregar antes de acontecer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361188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4904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Detecção de degradação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85800" y="437223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Identificar produtos piorando antes que virem crises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663440" y="361188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49040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0060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Decisão com dados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800600" y="437223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Recomendações prontas em vez de interpretar gráficos crus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029944D-D85B-9104-9BE6-BBD5C3C9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381DC555-0CC3-3B69-CCA9-4B0CA10AAED8}"/>
              </a:ext>
            </a:extLst>
          </p:cNvPr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9F258B8-B288-556F-175F-90DB992354D8}"/>
              </a:ext>
            </a:extLst>
          </p:cNvPr>
          <p:cNvSpPr/>
          <p:nvPr/>
        </p:nvSpPr>
        <p:spPr>
          <a:xfrm>
            <a:off x="54864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 · CONCORRÊNCIA</a:t>
            </a:r>
            <a:endParaRPr lang="en-US" sz="10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0F7C57A-1131-1234-C38A-36F7B0AE60A2}"/>
              </a:ext>
            </a:extLst>
          </p:cNvPr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Comparativo com a concorrência</a:t>
            </a:r>
            <a:endParaRPr lang="en-US" sz="26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421022D-53DA-C6E8-83CB-B80E8CAC667D}"/>
              </a:ext>
            </a:extLst>
          </p:cNvPr>
          <p:cNvSpPr/>
          <p:nvPr/>
        </p:nvSpPr>
        <p:spPr>
          <a:xfrm>
            <a:off x="2743200" y="17092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Dynatrace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BAF74AE-7F68-3B40-AB6A-97860BE3ED9C}"/>
              </a:ext>
            </a:extLst>
          </p:cNvPr>
          <p:cNvSpPr/>
          <p:nvPr/>
        </p:nvSpPr>
        <p:spPr>
          <a:xfrm>
            <a:off x="4297680" y="17092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Splunk</a:t>
            </a:r>
            <a:r>
              <a:rPr lang="en-US" sz="900" b="1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</a:t>
            </a: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ra" pitchFamily="34" charset="0"/>
                <a:ea typeface="Sora" pitchFamily="34" charset="-122"/>
              </a:rPr>
              <a:t>ITSI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EA0BAA0-3FF3-7D24-0863-71EF8A91EACE}"/>
              </a:ext>
            </a:extLst>
          </p:cNvPr>
          <p:cNvSpPr/>
          <p:nvPr/>
        </p:nvSpPr>
        <p:spPr>
          <a:xfrm>
            <a:off x="5852160" y="17092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Datadog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9EE4631C-7F3A-3C1B-DACF-1DBB80527BED}"/>
              </a:ext>
            </a:extLst>
          </p:cNvPr>
          <p:cNvSpPr/>
          <p:nvPr/>
        </p:nvSpPr>
        <p:spPr>
          <a:xfrm>
            <a:off x="548640" y="2029268"/>
            <a:ext cx="80467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EB097FA-CB39-3F24-00C9-E960CF44DFA7}"/>
              </a:ext>
            </a:extLst>
          </p:cNvPr>
          <p:cNvSpPr/>
          <p:nvPr/>
        </p:nvSpPr>
        <p:spPr>
          <a:xfrm>
            <a:off x="548640" y="21207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Previsão D+1/D+7</a:t>
            </a:r>
            <a:endParaRPr lang="en-US" sz="11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BA3EDA7-DAEC-A04E-4BE3-0479E3F844B4}"/>
              </a:ext>
            </a:extLst>
          </p:cNvPr>
          <p:cNvSpPr/>
          <p:nvPr/>
        </p:nvSpPr>
        <p:spPr>
          <a:xfrm>
            <a:off x="3200400" y="2184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09B88D3-7B2C-2F21-8084-C456EF2FFF47}"/>
              </a:ext>
            </a:extLst>
          </p:cNvPr>
          <p:cNvSpPr/>
          <p:nvPr/>
        </p:nvSpPr>
        <p:spPr>
          <a:xfrm>
            <a:off x="3200400" y="2184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DC76519B-9A74-FFED-96D2-435024F43F8E}"/>
              </a:ext>
            </a:extLst>
          </p:cNvPr>
          <p:cNvSpPr/>
          <p:nvPr/>
        </p:nvSpPr>
        <p:spPr>
          <a:xfrm>
            <a:off x="4754880" y="2184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2F452E8-95F8-44FC-E054-3A448659A806}"/>
              </a:ext>
            </a:extLst>
          </p:cNvPr>
          <p:cNvSpPr/>
          <p:nvPr/>
        </p:nvSpPr>
        <p:spPr>
          <a:xfrm>
            <a:off x="4754880" y="2184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D69DA166-1AB6-132C-15DA-519C787DEEDC}"/>
              </a:ext>
            </a:extLst>
          </p:cNvPr>
          <p:cNvSpPr/>
          <p:nvPr/>
        </p:nvSpPr>
        <p:spPr>
          <a:xfrm>
            <a:off x="6309360" y="2184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716BD7F9-6A1E-9E05-B1A9-F8ACECFD6E73}"/>
              </a:ext>
            </a:extLst>
          </p:cNvPr>
          <p:cNvSpPr/>
          <p:nvPr/>
        </p:nvSpPr>
        <p:spPr>
          <a:xfrm>
            <a:off x="6309360" y="2184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F54F756B-AF9A-3D3C-F352-70DCCA80680E}"/>
              </a:ext>
            </a:extLst>
          </p:cNvPr>
          <p:cNvSpPr/>
          <p:nvPr/>
        </p:nvSpPr>
        <p:spPr>
          <a:xfrm>
            <a:off x="7863840" y="2184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3CBCA02E-F69F-9A10-0153-EF6B42398449}"/>
              </a:ext>
            </a:extLst>
          </p:cNvPr>
          <p:cNvSpPr/>
          <p:nvPr/>
        </p:nvSpPr>
        <p:spPr>
          <a:xfrm>
            <a:off x="7863840" y="2184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E90054F-2AE5-E74B-0812-B60731C09B58}"/>
              </a:ext>
            </a:extLst>
          </p:cNvPr>
          <p:cNvSpPr/>
          <p:nvPr/>
        </p:nvSpPr>
        <p:spPr>
          <a:xfrm>
            <a:off x="548640" y="2559620"/>
            <a:ext cx="8046720" cy="0"/>
          </a:xfrm>
          <a:prstGeom prst="line">
            <a:avLst/>
          </a:prstGeom>
          <a:noFill/>
          <a:ln w="381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FBDDB22-948F-574B-6F41-41416E0466A9}"/>
              </a:ext>
            </a:extLst>
          </p:cNvPr>
          <p:cNvSpPr/>
          <p:nvPr/>
        </p:nvSpPr>
        <p:spPr>
          <a:xfrm>
            <a:off x="548640" y="25779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Projeção de KPI/OLA</a:t>
            </a:r>
            <a:endParaRPr lang="en-US" sz="110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E6484B9F-BEFF-F797-AC58-8E06E537E367}"/>
              </a:ext>
            </a:extLst>
          </p:cNvPr>
          <p:cNvSpPr/>
          <p:nvPr/>
        </p:nvSpPr>
        <p:spPr>
          <a:xfrm>
            <a:off x="3108960" y="26419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A68B9153-D564-B67C-8E37-647528529450}"/>
              </a:ext>
            </a:extLst>
          </p:cNvPr>
          <p:cNvSpPr/>
          <p:nvPr/>
        </p:nvSpPr>
        <p:spPr>
          <a:xfrm>
            <a:off x="3108960" y="26419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E2C8731F-A3A0-29F2-BBAF-806143F71793}"/>
              </a:ext>
            </a:extLst>
          </p:cNvPr>
          <p:cNvSpPr/>
          <p:nvPr/>
        </p:nvSpPr>
        <p:spPr>
          <a:xfrm>
            <a:off x="4663440" y="26419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3F1A9502-8981-A854-C4D1-846E01B00338}"/>
              </a:ext>
            </a:extLst>
          </p:cNvPr>
          <p:cNvSpPr/>
          <p:nvPr/>
        </p:nvSpPr>
        <p:spPr>
          <a:xfrm>
            <a:off x="4663440" y="26419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582A78B4-08FD-3F84-05B1-F5070EDBAD5D}"/>
              </a:ext>
            </a:extLst>
          </p:cNvPr>
          <p:cNvSpPr/>
          <p:nvPr/>
        </p:nvSpPr>
        <p:spPr>
          <a:xfrm>
            <a:off x="6309360" y="26419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7F387BA-BBF4-5DEF-ECF5-BF821CD66E56}"/>
              </a:ext>
            </a:extLst>
          </p:cNvPr>
          <p:cNvSpPr/>
          <p:nvPr/>
        </p:nvSpPr>
        <p:spPr>
          <a:xfrm>
            <a:off x="6309360" y="26419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F0262A64-0497-1467-BCDA-2160872064CB}"/>
              </a:ext>
            </a:extLst>
          </p:cNvPr>
          <p:cNvSpPr/>
          <p:nvPr/>
        </p:nvSpPr>
        <p:spPr>
          <a:xfrm>
            <a:off x="7863840" y="26419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3A0A7478-B104-6949-13BD-1003E596EB54}"/>
              </a:ext>
            </a:extLst>
          </p:cNvPr>
          <p:cNvSpPr/>
          <p:nvPr/>
        </p:nvSpPr>
        <p:spPr>
          <a:xfrm>
            <a:off x="7863840" y="26419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0E43F3D1-3524-645C-852C-F3505BD0B81A}"/>
              </a:ext>
            </a:extLst>
          </p:cNvPr>
          <p:cNvSpPr/>
          <p:nvPr/>
        </p:nvSpPr>
        <p:spPr>
          <a:xfrm>
            <a:off x="548640" y="3016820"/>
            <a:ext cx="8046720" cy="0"/>
          </a:xfrm>
          <a:prstGeom prst="line">
            <a:avLst/>
          </a:prstGeom>
          <a:noFill/>
          <a:ln w="381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E7FB0473-1A25-019A-BD22-B24D2C7D7F6F}"/>
              </a:ext>
            </a:extLst>
          </p:cNvPr>
          <p:cNvSpPr/>
          <p:nvPr/>
        </p:nvSpPr>
        <p:spPr>
          <a:xfrm>
            <a:off x="548640" y="30351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Morning briefing IA</a:t>
            </a:r>
            <a:endParaRPr lang="en-US" sz="1100" dirty="0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2640D7E5-0FD1-DDA5-D28C-EFEE94B46E0B}"/>
              </a:ext>
            </a:extLst>
          </p:cNvPr>
          <p:cNvSpPr/>
          <p:nvPr/>
        </p:nvSpPr>
        <p:spPr>
          <a:xfrm>
            <a:off x="3200400" y="30991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53CDD3EC-4745-BD52-7611-D2349B688706}"/>
              </a:ext>
            </a:extLst>
          </p:cNvPr>
          <p:cNvSpPr/>
          <p:nvPr/>
        </p:nvSpPr>
        <p:spPr>
          <a:xfrm>
            <a:off x="3200400" y="30991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1656059-E674-7668-54AF-9F15B4DBD671}"/>
              </a:ext>
            </a:extLst>
          </p:cNvPr>
          <p:cNvSpPr/>
          <p:nvPr/>
        </p:nvSpPr>
        <p:spPr>
          <a:xfrm>
            <a:off x="4754880" y="30991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DB65124-DCB4-6D12-5F67-0250FF137D66}"/>
              </a:ext>
            </a:extLst>
          </p:cNvPr>
          <p:cNvSpPr/>
          <p:nvPr/>
        </p:nvSpPr>
        <p:spPr>
          <a:xfrm>
            <a:off x="4754880" y="30991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D6DAB25F-3CB1-54AB-AD5C-DE1DEE537A95}"/>
              </a:ext>
            </a:extLst>
          </p:cNvPr>
          <p:cNvSpPr/>
          <p:nvPr/>
        </p:nvSpPr>
        <p:spPr>
          <a:xfrm>
            <a:off x="6309360" y="30991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898BC528-72B2-CC37-E040-1ADB2E323B87}"/>
              </a:ext>
            </a:extLst>
          </p:cNvPr>
          <p:cNvSpPr/>
          <p:nvPr/>
        </p:nvSpPr>
        <p:spPr>
          <a:xfrm>
            <a:off x="6309360" y="30991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A3CCE6CB-0460-CE35-7617-C9085E0C323F}"/>
              </a:ext>
            </a:extLst>
          </p:cNvPr>
          <p:cNvSpPr/>
          <p:nvPr/>
        </p:nvSpPr>
        <p:spPr>
          <a:xfrm>
            <a:off x="7863840" y="30991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7A205887-8DE5-21EC-A37E-C9A4C38EEED1}"/>
              </a:ext>
            </a:extLst>
          </p:cNvPr>
          <p:cNvSpPr/>
          <p:nvPr/>
        </p:nvSpPr>
        <p:spPr>
          <a:xfrm>
            <a:off x="7863840" y="30991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30DCFC39-54C0-7E2D-C0E1-B34AB8B0C8FE}"/>
              </a:ext>
            </a:extLst>
          </p:cNvPr>
          <p:cNvSpPr/>
          <p:nvPr/>
        </p:nvSpPr>
        <p:spPr>
          <a:xfrm>
            <a:off x="548640" y="3474020"/>
            <a:ext cx="8046720" cy="0"/>
          </a:xfrm>
          <a:prstGeom prst="line">
            <a:avLst/>
          </a:prstGeom>
          <a:noFill/>
          <a:ln w="381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D67C22E5-2648-017D-32B9-1829D67B3721}"/>
              </a:ext>
            </a:extLst>
          </p:cNvPr>
          <p:cNvSpPr/>
          <p:nvPr/>
        </p:nvSpPr>
        <p:spPr>
          <a:xfrm>
            <a:off x="548640" y="34923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Detector de cascata</a:t>
            </a:r>
            <a:endParaRPr lang="en-US" sz="1100" dirty="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60FE4D1A-C215-CF8B-4B8C-FCC9B4B7E030}"/>
              </a:ext>
            </a:extLst>
          </p:cNvPr>
          <p:cNvSpPr/>
          <p:nvPr/>
        </p:nvSpPr>
        <p:spPr>
          <a:xfrm>
            <a:off x="3108960" y="35563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F58E2A7D-3E43-134C-8AC3-AE493CE1D8EE}"/>
              </a:ext>
            </a:extLst>
          </p:cNvPr>
          <p:cNvSpPr/>
          <p:nvPr/>
        </p:nvSpPr>
        <p:spPr>
          <a:xfrm>
            <a:off x="3108960" y="3556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24CFCECC-1A4B-3FA4-57DC-4494E52A9414}"/>
              </a:ext>
            </a:extLst>
          </p:cNvPr>
          <p:cNvSpPr/>
          <p:nvPr/>
        </p:nvSpPr>
        <p:spPr>
          <a:xfrm>
            <a:off x="4663440" y="35563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21CF5DD4-D2B2-0554-8185-4C3FC99B1723}"/>
              </a:ext>
            </a:extLst>
          </p:cNvPr>
          <p:cNvSpPr/>
          <p:nvPr/>
        </p:nvSpPr>
        <p:spPr>
          <a:xfrm>
            <a:off x="4663440" y="3556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5A1D2C28-7249-77D4-DCF9-1B74475A4D50}"/>
              </a:ext>
            </a:extLst>
          </p:cNvPr>
          <p:cNvSpPr/>
          <p:nvPr/>
        </p:nvSpPr>
        <p:spPr>
          <a:xfrm>
            <a:off x="6217920" y="35563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5827AB94-575A-3E14-1F40-E1BAE62BE4FB}"/>
              </a:ext>
            </a:extLst>
          </p:cNvPr>
          <p:cNvSpPr/>
          <p:nvPr/>
        </p:nvSpPr>
        <p:spPr>
          <a:xfrm>
            <a:off x="6217920" y="3556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E40FDB38-C3EF-83A2-4366-E25D30A84654}"/>
              </a:ext>
            </a:extLst>
          </p:cNvPr>
          <p:cNvSpPr/>
          <p:nvPr/>
        </p:nvSpPr>
        <p:spPr>
          <a:xfrm>
            <a:off x="7863840" y="35563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89052E77-6CCB-EC86-50D7-3314D4453773}"/>
              </a:ext>
            </a:extLst>
          </p:cNvPr>
          <p:cNvSpPr/>
          <p:nvPr/>
        </p:nvSpPr>
        <p:spPr>
          <a:xfrm>
            <a:off x="7863840" y="3556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9E2A1DD6-FB35-460B-C912-5239E474814F}"/>
              </a:ext>
            </a:extLst>
          </p:cNvPr>
          <p:cNvSpPr/>
          <p:nvPr/>
        </p:nvSpPr>
        <p:spPr>
          <a:xfrm>
            <a:off x="548640" y="3931220"/>
            <a:ext cx="8046720" cy="0"/>
          </a:xfrm>
          <a:prstGeom prst="line">
            <a:avLst/>
          </a:prstGeom>
          <a:noFill/>
          <a:ln w="381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A44AFF30-CDA0-A84F-2C48-8A27B3AFA45E}"/>
              </a:ext>
            </a:extLst>
          </p:cNvPr>
          <p:cNvSpPr/>
          <p:nvPr/>
        </p:nvSpPr>
        <p:spPr>
          <a:xfrm>
            <a:off x="548640" y="39495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Score de saúde</a:t>
            </a:r>
            <a:endParaRPr lang="en-US" sz="1100" dirty="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1CC9C77A-9C1E-66C4-8C6F-D08904D8322C}"/>
              </a:ext>
            </a:extLst>
          </p:cNvPr>
          <p:cNvSpPr/>
          <p:nvPr/>
        </p:nvSpPr>
        <p:spPr>
          <a:xfrm>
            <a:off x="3108960" y="401351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F35AFC8E-AF3D-16B8-FA89-1E2D5FE8A5EC}"/>
              </a:ext>
            </a:extLst>
          </p:cNvPr>
          <p:cNvSpPr/>
          <p:nvPr/>
        </p:nvSpPr>
        <p:spPr>
          <a:xfrm>
            <a:off x="3108960" y="40135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Parcial</a:t>
            </a:r>
            <a:endParaRPr lang="en-US" sz="800" dirty="0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363F4E7E-5ACE-2B23-B432-7A13BA23A45A}"/>
              </a:ext>
            </a:extLst>
          </p:cNvPr>
          <p:cNvSpPr/>
          <p:nvPr/>
        </p:nvSpPr>
        <p:spPr>
          <a:xfrm>
            <a:off x="4754880" y="40135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5E351D4C-E1D1-DF52-F882-DBB57A52A276}"/>
              </a:ext>
            </a:extLst>
          </p:cNvPr>
          <p:cNvSpPr/>
          <p:nvPr/>
        </p:nvSpPr>
        <p:spPr>
          <a:xfrm>
            <a:off x="4754880" y="40135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4730FC46-E40D-744D-75FD-05B48B408495}"/>
              </a:ext>
            </a:extLst>
          </p:cNvPr>
          <p:cNvSpPr/>
          <p:nvPr/>
        </p:nvSpPr>
        <p:spPr>
          <a:xfrm>
            <a:off x="6309360" y="40135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8031353-AAEF-647B-45AF-2BBCE107FEE4}"/>
              </a:ext>
            </a:extLst>
          </p:cNvPr>
          <p:cNvSpPr/>
          <p:nvPr/>
        </p:nvSpPr>
        <p:spPr>
          <a:xfrm>
            <a:off x="6309360" y="40135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64" name="Shape 55">
            <a:extLst>
              <a:ext uri="{FF2B5EF4-FFF2-40B4-BE49-F238E27FC236}">
                <a16:creationId xmlns:a16="http://schemas.microsoft.com/office/drawing/2014/main" id="{42171343-E54C-FB87-5BCA-2A270347225A}"/>
              </a:ext>
            </a:extLst>
          </p:cNvPr>
          <p:cNvSpPr/>
          <p:nvPr/>
        </p:nvSpPr>
        <p:spPr>
          <a:xfrm>
            <a:off x="7863840" y="40135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56">
            <a:extLst>
              <a:ext uri="{FF2B5EF4-FFF2-40B4-BE49-F238E27FC236}">
                <a16:creationId xmlns:a16="http://schemas.microsoft.com/office/drawing/2014/main" id="{6C5F8C3C-3B75-6825-9DC7-CD60155079D3}"/>
              </a:ext>
            </a:extLst>
          </p:cNvPr>
          <p:cNvSpPr/>
          <p:nvPr/>
        </p:nvSpPr>
        <p:spPr>
          <a:xfrm>
            <a:off x="7863840" y="40135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66" name="Shape 57">
            <a:extLst>
              <a:ext uri="{FF2B5EF4-FFF2-40B4-BE49-F238E27FC236}">
                <a16:creationId xmlns:a16="http://schemas.microsoft.com/office/drawing/2014/main" id="{61646333-7133-AD8A-372B-469C1EDD6FEB}"/>
              </a:ext>
            </a:extLst>
          </p:cNvPr>
          <p:cNvSpPr/>
          <p:nvPr/>
        </p:nvSpPr>
        <p:spPr>
          <a:xfrm>
            <a:off x="548640" y="4388420"/>
            <a:ext cx="8046720" cy="0"/>
          </a:xfrm>
          <a:prstGeom prst="line">
            <a:avLst/>
          </a:prstGeom>
          <a:noFill/>
          <a:ln w="381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58">
            <a:extLst>
              <a:ext uri="{FF2B5EF4-FFF2-40B4-BE49-F238E27FC236}">
                <a16:creationId xmlns:a16="http://schemas.microsoft.com/office/drawing/2014/main" id="{E668F5B1-3F71-1E47-E90F-2FDA8710F5C6}"/>
              </a:ext>
            </a:extLst>
          </p:cNvPr>
          <p:cNvSpPr/>
          <p:nvPr/>
        </p:nvSpPr>
        <p:spPr>
          <a:xfrm>
            <a:off x="548640" y="44067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Customizado Locaweb</a:t>
            </a:r>
            <a:endParaRPr lang="en-US" sz="1100" dirty="0"/>
          </a:p>
        </p:txBody>
      </p:sp>
      <p:sp>
        <p:nvSpPr>
          <p:cNvPr id="68" name="Shape 59">
            <a:extLst>
              <a:ext uri="{FF2B5EF4-FFF2-40B4-BE49-F238E27FC236}">
                <a16:creationId xmlns:a16="http://schemas.microsoft.com/office/drawing/2014/main" id="{162B9AFD-14B8-80BE-26ED-29F054EF8C4C}"/>
              </a:ext>
            </a:extLst>
          </p:cNvPr>
          <p:cNvSpPr/>
          <p:nvPr/>
        </p:nvSpPr>
        <p:spPr>
          <a:xfrm>
            <a:off x="3200400" y="4470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0">
            <a:extLst>
              <a:ext uri="{FF2B5EF4-FFF2-40B4-BE49-F238E27FC236}">
                <a16:creationId xmlns:a16="http://schemas.microsoft.com/office/drawing/2014/main" id="{71059531-5D9F-D0D1-38C3-B82048577823}"/>
              </a:ext>
            </a:extLst>
          </p:cNvPr>
          <p:cNvSpPr/>
          <p:nvPr/>
        </p:nvSpPr>
        <p:spPr>
          <a:xfrm>
            <a:off x="3200400" y="4470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70" name="Shape 61">
            <a:extLst>
              <a:ext uri="{FF2B5EF4-FFF2-40B4-BE49-F238E27FC236}">
                <a16:creationId xmlns:a16="http://schemas.microsoft.com/office/drawing/2014/main" id="{7E68AAAC-645C-5A49-FACB-D040D09B12B6}"/>
              </a:ext>
            </a:extLst>
          </p:cNvPr>
          <p:cNvSpPr/>
          <p:nvPr/>
        </p:nvSpPr>
        <p:spPr>
          <a:xfrm>
            <a:off x="4754880" y="4470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2">
            <a:extLst>
              <a:ext uri="{FF2B5EF4-FFF2-40B4-BE49-F238E27FC236}">
                <a16:creationId xmlns:a16="http://schemas.microsoft.com/office/drawing/2014/main" id="{2A0F77B8-2351-4670-4269-4A9645FC72D4}"/>
              </a:ext>
            </a:extLst>
          </p:cNvPr>
          <p:cNvSpPr/>
          <p:nvPr/>
        </p:nvSpPr>
        <p:spPr>
          <a:xfrm>
            <a:off x="4754880" y="4470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72" name="Shape 63">
            <a:extLst>
              <a:ext uri="{FF2B5EF4-FFF2-40B4-BE49-F238E27FC236}">
                <a16:creationId xmlns:a16="http://schemas.microsoft.com/office/drawing/2014/main" id="{181E79F2-B667-B51B-0773-7E61876BB901}"/>
              </a:ext>
            </a:extLst>
          </p:cNvPr>
          <p:cNvSpPr/>
          <p:nvPr/>
        </p:nvSpPr>
        <p:spPr>
          <a:xfrm>
            <a:off x="6309360" y="4470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64">
            <a:extLst>
              <a:ext uri="{FF2B5EF4-FFF2-40B4-BE49-F238E27FC236}">
                <a16:creationId xmlns:a16="http://schemas.microsoft.com/office/drawing/2014/main" id="{4575C79F-F6B6-B6B4-3D6D-87F602ADBC62}"/>
              </a:ext>
            </a:extLst>
          </p:cNvPr>
          <p:cNvSpPr/>
          <p:nvPr/>
        </p:nvSpPr>
        <p:spPr>
          <a:xfrm>
            <a:off x="6309360" y="4470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D4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800" dirty="0"/>
          </a:p>
        </p:txBody>
      </p:sp>
      <p:sp>
        <p:nvSpPr>
          <p:cNvPr id="74" name="Shape 65">
            <a:extLst>
              <a:ext uri="{FF2B5EF4-FFF2-40B4-BE49-F238E27FC236}">
                <a16:creationId xmlns:a16="http://schemas.microsoft.com/office/drawing/2014/main" id="{C8FEA26F-724E-B1C2-4577-B18B91421A62}"/>
              </a:ext>
            </a:extLst>
          </p:cNvPr>
          <p:cNvSpPr/>
          <p:nvPr/>
        </p:nvSpPr>
        <p:spPr>
          <a:xfrm>
            <a:off x="7863840" y="447071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66">
            <a:extLst>
              <a:ext uri="{FF2B5EF4-FFF2-40B4-BE49-F238E27FC236}">
                <a16:creationId xmlns:a16="http://schemas.microsoft.com/office/drawing/2014/main" id="{78316C2A-0FDD-D01A-3E6D-C9047F66356C}"/>
              </a:ext>
            </a:extLst>
          </p:cNvPr>
          <p:cNvSpPr/>
          <p:nvPr/>
        </p:nvSpPr>
        <p:spPr>
          <a:xfrm>
            <a:off x="7863840" y="44707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800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9E65216D-2E35-6B77-BA71-4808CCA38104}"/>
              </a:ext>
            </a:extLst>
          </p:cNvPr>
          <p:cNvSpPr/>
          <p:nvPr/>
        </p:nvSpPr>
        <p:spPr>
          <a:xfrm>
            <a:off x="7406640" y="17092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5EF0BAB-E5B2-704B-221D-D304263B0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347472" cy="34747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6EC6C2-79DF-8AF6-FACA-BA5261FE6005}"/>
              </a:ext>
            </a:extLst>
          </p:cNvPr>
          <p:cNvSpPr/>
          <p:nvPr/>
        </p:nvSpPr>
        <p:spPr>
          <a:xfrm>
            <a:off x="96012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427619-8435-34F4-2FD3-F21A423D8B52}"/>
              </a:ext>
            </a:extLst>
          </p:cNvPr>
          <p:cNvSpPr/>
          <p:nvPr/>
        </p:nvSpPr>
        <p:spPr>
          <a:xfrm>
            <a:off x="54864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 · PRÓXIMOS PASSOS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79325F7-B28F-900C-3454-DC245EF3A9FB}"/>
              </a:ext>
            </a:extLst>
          </p:cNvPr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005260-D275-3A58-53E4-599328F90CF8}"/>
              </a:ext>
            </a:extLst>
          </p:cNvPr>
          <p:cNvSpPr/>
          <p:nvPr/>
        </p:nvSpPr>
        <p:spPr>
          <a:xfrm>
            <a:off x="548640" y="14401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Sprint 2 vamos nos aprofundar na análise e a modelagem dos dados. O que temos em mente?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C8A6955-53CB-67D6-656B-C5995B15699D}"/>
              </a:ext>
            </a:extLst>
          </p:cNvPr>
          <p:cNvSpPr/>
          <p:nvPr/>
        </p:nvSpPr>
        <p:spPr>
          <a:xfrm>
            <a:off x="548640" y="20574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FD190E0-A30B-B2AC-E624-D1755AAD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2C3804C-87E5-585C-0F4F-3F5286E7A63D}"/>
              </a:ext>
            </a:extLst>
          </p:cNvPr>
          <p:cNvSpPr/>
          <p:nvPr/>
        </p:nvSpPr>
        <p:spPr>
          <a:xfrm>
            <a:off x="12344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 exploratória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7C2EAD1-1B1A-05BE-5A61-A3A08FE46ACA}"/>
              </a:ext>
            </a:extLst>
          </p:cNvPr>
          <p:cNvSpPr/>
          <p:nvPr/>
        </p:nvSpPr>
        <p:spPr>
          <a:xfrm>
            <a:off x="777240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Distribuição dos incidentes por tempo, produto, categoria, prioridade, entre outros.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719C90B-5C04-538D-9832-2A2E27483E4A}"/>
              </a:ext>
            </a:extLst>
          </p:cNvPr>
          <p:cNvSpPr/>
          <p:nvPr/>
        </p:nvSpPr>
        <p:spPr>
          <a:xfrm>
            <a:off x="4709160" y="20574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D65A16A-B9B3-ED71-DA12-D4B1702D6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8600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8CFD7D2-EA8B-55F0-4072-00C7C40BD259}"/>
              </a:ext>
            </a:extLst>
          </p:cNvPr>
          <p:cNvSpPr/>
          <p:nvPr/>
        </p:nvSpPr>
        <p:spPr>
          <a:xfrm>
            <a:off x="5394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Modelagem preditiva</a:t>
            </a:r>
            <a:endParaRPr lang="en-US" sz="13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C22A449-5E46-95F0-E54A-52A928C02414}"/>
              </a:ext>
            </a:extLst>
          </p:cNvPr>
          <p:cNvSpPr/>
          <p:nvPr/>
        </p:nvSpPr>
        <p:spPr>
          <a:xfrm>
            <a:off x="4937760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Prophet e XGBoost com features temporais para prever D+1 e D+7.</a:t>
            </a:r>
            <a:endParaRPr lang="en-US" sz="10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80F7381-8141-FCF7-F947-DB86F687CD17}"/>
              </a:ext>
            </a:extLst>
          </p:cNvPr>
          <p:cNvSpPr/>
          <p:nvPr/>
        </p:nvSpPr>
        <p:spPr>
          <a:xfrm>
            <a:off x="548640" y="347472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54489FBD-A8B4-73DE-0779-51AF10DFC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A5A0EC1A-D2D3-F48D-76B6-FBE732C83610}"/>
              </a:ext>
            </a:extLst>
          </p:cNvPr>
          <p:cNvSpPr/>
          <p:nvPr/>
        </p:nvSpPr>
        <p:spPr>
          <a:xfrm>
            <a:off x="12344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Clusterização temporal</a:t>
            </a:r>
            <a:endParaRPr lang="en-US" sz="13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F833631-1541-7F2C-7839-E1755285531E}"/>
              </a:ext>
            </a:extLst>
          </p:cNvPr>
          <p:cNvSpPr/>
          <p:nvPr/>
        </p:nvSpPr>
        <p:spPr>
          <a:xfrm>
            <a:off x="77724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Usar tslearn com DTW para agrupar produtos com comportamento similar.</a:t>
            </a:r>
            <a:endParaRPr lang="en-US" sz="1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97ADD46-B9A6-66DA-98B2-6CDD6A093050}"/>
              </a:ext>
            </a:extLst>
          </p:cNvPr>
          <p:cNvSpPr/>
          <p:nvPr/>
        </p:nvSpPr>
        <p:spPr>
          <a:xfrm>
            <a:off x="4709160" y="347472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7F7F7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BBCD5E14-B798-120A-8895-6B8F6CD85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365760" cy="36576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A8A52B98-07FC-F1CD-2C6C-9E22E39AD8C6}"/>
              </a:ext>
            </a:extLst>
          </p:cNvPr>
          <p:cNvSpPr/>
          <p:nvPr/>
        </p:nvSpPr>
        <p:spPr>
          <a:xfrm>
            <a:off x="53949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Explicabilidade</a:t>
            </a: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167608B-8498-BAB1-2BE5-20DF501FE905}"/>
              </a:ext>
            </a:extLst>
          </p:cNvPr>
          <p:cNvSpPr/>
          <p:nvPr/>
        </p:nvSpPr>
        <p:spPr>
          <a:xfrm>
            <a:off x="493776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SHAP para justificar cada previsão e mostrar o peso de cada variável.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35790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880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8288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ANTES. AJA ANTES.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 Beatriz · Hygor · Igor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8288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Super Data Bros · 2TSCOA · FIAP 2026</a:t>
            </a:r>
            <a:endParaRPr lang="en-US" sz="11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ED4AE14-31C3-F445-EB1A-F2511EA7A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169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963</Words>
  <Application>Microsoft Office PowerPoint</Application>
  <PresentationFormat>Apresentação na tela (16:9)</PresentationFormat>
  <Paragraphs>201</Paragraphs>
  <Slides>16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Sora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Cronos — Sprint 1 Ideação</dc:title>
  <dc:subject>PptxGenJS Presentation</dc:subject>
  <dc:creator>Super Data Bros</dc:creator>
  <cp:lastModifiedBy>IGOR VIGNOLA</cp:lastModifiedBy>
  <cp:revision>18</cp:revision>
  <dcterms:created xsi:type="dcterms:W3CDTF">2026-04-10T12:05:59Z</dcterms:created>
  <dcterms:modified xsi:type="dcterms:W3CDTF">2026-04-24T14:31:57Z</dcterms:modified>
</cp:coreProperties>
</file>